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7D8FE77-77C6-4290-88B9-39598E981C6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E1EE3A"/>
    <a:srgbClr val="EDF58B"/>
    <a:srgbClr val="D7F5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EEB63C-32F7-441D-972C-FB244059ECF8}" v="336" dt="2026-04-08T15:37:16.4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04" autoAdjust="0"/>
    <p:restoredTop sz="86320" autoAdjust="0"/>
  </p:normalViewPr>
  <p:slideViewPr>
    <p:cSldViewPr snapToGrid="0">
      <p:cViewPr varScale="1">
        <p:scale>
          <a:sx n="71" d="100"/>
          <a:sy n="71" d="100"/>
        </p:scale>
        <p:origin x="1118" y="53"/>
      </p:cViewPr>
      <p:guideLst/>
    </p:cSldViewPr>
  </p:slideViewPr>
  <p:notesTextViewPr>
    <p:cViewPr>
      <p:scale>
        <a:sx n="3" d="2"/>
        <a:sy n="3" d="2"/>
      </p:scale>
      <p:origin x="0" y="-432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nth Kumar Konda" userId="8b277985a9e336af" providerId="LiveId" clId="{5BEEB63C-32F7-441D-972C-FB244059ECF8}"/>
    <pc:docChg chg="undo redo custSel addSld delSld modSld modSection">
      <pc:chgData name="Hemanth Kumar Konda" userId="8b277985a9e336af" providerId="LiveId" clId="{5BEEB63C-32F7-441D-972C-FB244059ECF8}" dt="2026-04-08T15:40:06.056" v="1414" actId="207"/>
      <pc:docMkLst>
        <pc:docMk/>
      </pc:docMkLst>
      <pc:sldChg chg="modSp mod">
        <pc:chgData name="Hemanth Kumar Konda" userId="8b277985a9e336af" providerId="LiveId" clId="{5BEEB63C-32F7-441D-972C-FB244059ECF8}" dt="2026-04-08T01:02:35.817" v="927" actId="2711"/>
        <pc:sldMkLst>
          <pc:docMk/>
          <pc:sldMk cId="2133225271" sldId="256"/>
        </pc:sldMkLst>
        <pc:spChg chg="mod">
          <ac:chgData name="Hemanth Kumar Konda" userId="8b277985a9e336af" providerId="LiveId" clId="{5BEEB63C-32F7-441D-972C-FB244059ECF8}" dt="2026-04-08T01:02:35.817" v="927" actId="2711"/>
          <ac:spMkLst>
            <pc:docMk/>
            <pc:sldMk cId="2133225271" sldId="256"/>
            <ac:spMk id="2" creationId="{28A2650A-0700-1CE8-5D50-CCBB44A4693F}"/>
          </ac:spMkLst>
        </pc:spChg>
      </pc:sldChg>
      <pc:sldChg chg="modSp mod">
        <pc:chgData name="Hemanth Kumar Konda" userId="8b277985a9e336af" providerId="LiveId" clId="{5BEEB63C-32F7-441D-972C-FB244059ECF8}" dt="2026-04-07T21:47:12.960" v="756" actId="114"/>
        <pc:sldMkLst>
          <pc:docMk/>
          <pc:sldMk cId="3867950088" sldId="257"/>
        </pc:sldMkLst>
        <pc:spChg chg="mod">
          <ac:chgData name="Hemanth Kumar Konda" userId="8b277985a9e336af" providerId="LiveId" clId="{5BEEB63C-32F7-441D-972C-FB244059ECF8}" dt="2026-04-07T21:20:10.554" v="692" actId="2711"/>
          <ac:spMkLst>
            <pc:docMk/>
            <pc:sldMk cId="3867950088" sldId="257"/>
            <ac:spMk id="27" creationId="{0331334B-A69A-A2A9-D4FE-7952ED847A8A}"/>
          </ac:spMkLst>
        </pc:spChg>
        <pc:spChg chg="mod">
          <ac:chgData name="Hemanth Kumar Konda" userId="8b277985a9e336af" providerId="LiveId" clId="{5BEEB63C-32F7-441D-972C-FB244059ECF8}" dt="2026-04-07T21:47:12.960" v="756" actId="114"/>
          <ac:spMkLst>
            <pc:docMk/>
            <pc:sldMk cId="3867950088" sldId="257"/>
            <ac:spMk id="29" creationId="{CA0D11F9-9384-436F-27D9-26C336187155}"/>
          </ac:spMkLst>
        </pc:spChg>
      </pc:sldChg>
      <pc:sldChg chg="modSp mod">
        <pc:chgData name="Hemanth Kumar Konda" userId="8b277985a9e336af" providerId="LiveId" clId="{5BEEB63C-32F7-441D-972C-FB244059ECF8}" dt="2026-04-08T15:11:42.167" v="1270" actId="113"/>
        <pc:sldMkLst>
          <pc:docMk/>
          <pc:sldMk cId="3259800174" sldId="259"/>
        </pc:sldMkLst>
        <pc:spChg chg="mod">
          <ac:chgData name="Hemanth Kumar Konda" userId="8b277985a9e336af" providerId="LiveId" clId="{5BEEB63C-32F7-441D-972C-FB244059ECF8}" dt="2026-04-08T15:11:35.985" v="1269" actId="113"/>
          <ac:spMkLst>
            <pc:docMk/>
            <pc:sldMk cId="3259800174" sldId="259"/>
            <ac:spMk id="4" creationId="{C78237B0-2318-EBD3-92A9-CDAD3A0538CD}"/>
          </ac:spMkLst>
        </pc:spChg>
        <pc:spChg chg="mod">
          <ac:chgData name="Hemanth Kumar Konda" userId="8b277985a9e336af" providerId="LiveId" clId="{5BEEB63C-32F7-441D-972C-FB244059ECF8}" dt="2026-04-08T15:11:42.167" v="1270" actId="113"/>
          <ac:spMkLst>
            <pc:docMk/>
            <pc:sldMk cId="3259800174" sldId="259"/>
            <ac:spMk id="6" creationId="{B311670D-FDC8-6C5C-DB9B-B88BF9D2BFEC}"/>
          </ac:spMkLst>
        </pc:spChg>
        <pc:graphicFrameChg chg="mod modGraphic">
          <ac:chgData name="Hemanth Kumar Konda" userId="8b277985a9e336af" providerId="LiveId" clId="{5BEEB63C-32F7-441D-972C-FB244059ECF8}" dt="2026-04-08T15:09:52.196" v="1258" actId="20577"/>
          <ac:graphicFrameMkLst>
            <pc:docMk/>
            <pc:sldMk cId="3259800174" sldId="259"/>
            <ac:graphicFrameMk id="5" creationId="{886D8182-C31D-0BC1-F3EF-F41413FEA5F4}"/>
          </ac:graphicFrameMkLst>
        </pc:graphicFrameChg>
        <pc:picChg chg="mod">
          <ac:chgData name="Hemanth Kumar Konda" userId="8b277985a9e336af" providerId="LiveId" clId="{5BEEB63C-32F7-441D-972C-FB244059ECF8}" dt="2026-04-08T14:56:09.775" v="1133" actId="408"/>
          <ac:picMkLst>
            <pc:docMk/>
            <pc:sldMk cId="3259800174" sldId="259"/>
            <ac:picMk id="18" creationId="{9A3072D8-A86A-56BB-1FCF-EFF50124C135}"/>
          </ac:picMkLst>
        </pc:picChg>
        <pc:picChg chg="mod">
          <ac:chgData name="Hemanth Kumar Konda" userId="8b277985a9e336af" providerId="LiveId" clId="{5BEEB63C-32F7-441D-972C-FB244059ECF8}" dt="2026-04-08T14:56:09.775" v="1133" actId="408"/>
          <ac:picMkLst>
            <pc:docMk/>
            <pc:sldMk cId="3259800174" sldId="259"/>
            <ac:picMk id="20" creationId="{EFF5801D-3CD4-7198-5B66-494DB7DBDEAB}"/>
          </ac:picMkLst>
        </pc:picChg>
      </pc:sldChg>
      <pc:sldChg chg="modSp mod">
        <pc:chgData name="Hemanth Kumar Konda" userId="8b277985a9e336af" providerId="LiveId" clId="{5BEEB63C-32F7-441D-972C-FB244059ECF8}" dt="2026-04-08T14:55:41.347" v="1132" actId="207"/>
        <pc:sldMkLst>
          <pc:docMk/>
          <pc:sldMk cId="1275066576" sldId="260"/>
        </pc:sldMkLst>
        <pc:spChg chg="mod">
          <ac:chgData name="Hemanth Kumar Konda" userId="8b277985a9e336af" providerId="LiveId" clId="{5BEEB63C-32F7-441D-972C-FB244059ECF8}" dt="2026-04-07T18:42:33.284" v="33" actId="255"/>
          <ac:spMkLst>
            <pc:docMk/>
            <pc:sldMk cId="1275066576" sldId="260"/>
            <ac:spMk id="4" creationId="{E6827136-63D1-FDDA-A57B-DAD4D36689C5}"/>
          </ac:spMkLst>
        </pc:spChg>
        <pc:spChg chg="mod">
          <ac:chgData name="Hemanth Kumar Konda" userId="8b277985a9e336af" providerId="LiveId" clId="{5BEEB63C-32F7-441D-972C-FB244059ECF8}" dt="2026-04-08T14:54:45.101" v="1127" actId="408"/>
          <ac:spMkLst>
            <pc:docMk/>
            <pc:sldMk cId="1275066576" sldId="260"/>
            <ac:spMk id="17" creationId="{5708E6F0-26F2-0111-CDF2-642866C24658}"/>
          </ac:spMkLst>
        </pc:spChg>
        <pc:spChg chg="mod">
          <ac:chgData name="Hemanth Kumar Konda" userId="8b277985a9e336af" providerId="LiveId" clId="{5BEEB63C-32F7-441D-972C-FB244059ECF8}" dt="2026-04-08T14:54:45.101" v="1127" actId="408"/>
          <ac:spMkLst>
            <pc:docMk/>
            <pc:sldMk cId="1275066576" sldId="260"/>
            <ac:spMk id="19" creationId="{12AE902D-4802-6FFC-2775-31371C3DE276}"/>
          </ac:spMkLst>
        </pc:spChg>
        <pc:spChg chg="mod">
          <ac:chgData name="Hemanth Kumar Konda" userId="8b277985a9e336af" providerId="LiveId" clId="{5BEEB63C-32F7-441D-972C-FB244059ECF8}" dt="2026-04-07T21:10:30.722" v="672" actId="403"/>
          <ac:spMkLst>
            <pc:docMk/>
            <pc:sldMk cId="1275066576" sldId="260"/>
            <ac:spMk id="21" creationId="{C7FE0882-8A74-22D2-1798-57C054BC4B58}"/>
          </ac:spMkLst>
        </pc:spChg>
        <pc:spChg chg="mod">
          <ac:chgData name="Hemanth Kumar Konda" userId="8b277985a9e336af" providerId="LiveId" clId="{5BEEB63C-32F7-441D-972C-FB244059ECF8}" dt="2026-04-08T14:55:41.347" v="1132" actId="207"/>
          <ac:spMkLst>
            <pc:docMk/>
            <pc:sldMk cId="1275066576" sldId="260"/>
            <ac:spMk id="30" creationId="{BC64E376-A1E9-31B8-276C-FFA92BE71983}"/>
          </ac:spMkLst>
        </pc:spChg>
        <pc:spChg chg="mod">
          <ac:chgData name="Hemanth Kumar Konda" userId="8b277985a9e336af" providerId="LiveId" clId="{5BEEB63C-32F7-441D-972C-FB244059ECF8}" dt="2026-04-08T14:55:25.010" v="1130" actId="1076"/>
          <ac:spMkLst>
            <pc:docMk/>
            <pc:sldMk cId="1275066576" sldId="260"/>
            <ac:spMk id="31" creationId="{459F448A-E84E-5EEE-228B-70D80F30E5A1}"/>
          </ac:spMkLst>
        </pc:spChg>
        <pc:spChg chg="mod">
          <ac:chgData name="Hemanth Kumar Konda" userId="8b277985a9e336af" providerId="LiveId" clId="{5BEEB63C-32F7-441D-972C-FB244059ECF8}" dt="2026-04-08T14:55:29.119" v="1131" actId="1076"/>
          <ac:spMkLst>
            <pc:docMk/>
            <pc:sldMk cId="1275066576" sldId="260"/>
            <ac:spMk id="32" creationId="{8D6CE9C8-70E0-4434-7D41-71B2DA1FA06A}"/>
          </ac:spMkLst>
        </pc:spChg>
      </pc:sldChg>
      <pc:sldChg chg="addSp delSp modSp new mod">
        <pc:chgData name="Hemanth Kumar Konda" userId="8b277985a9e336af" providerId="LiveId" clId="{5BEEB63C-32F7-441D-972C-FB244059ECF8}" dt="2026-04-07T21:47:02.762" v="754" actId="2710"/>
        <pc:sldMkLst>
          <pc:docMk/>
          <pc:sldMk cId="533640633" sldId="261"/>
        </pc:sldMkLst>
        <pc:spChg chg="del">
          <ac:chgData name="Hemanth Kumar Konda" userId="8b277985a9e336af" providerId="LiveId" clId="{5BEEB63C-32F7-441D-972C-FB244059ECF8}" dt="2026-04-07T18:54:01.300" v="34" actId="478"/>
          <ac:spMkLst>
            <pc:docMk/>
            <pc:sldMk cId="533640633" sldId="261"/>
            <ac:spMk id="2" creationId="{FED51EC0-99A0-29EB-D635-3427B6B922A8}"/>
          </ac:spMkLst>
        </pc:spChg>
        <pc:spChg chg="del">
          <ac:chgData name="Hemanth Kumar Konda" userId="8b277985a9e336af" providerId="LiveId" clId="{5BEEB63C-32F7-441D-972C-FB244059ECF8}" dt="2026-04-07T18:54:05.694" v="35" actId="478"/>
          <ac:spMkLst>
            <pc:docMk/>
            <pc:sldMk cId="533640633" sldId="261"/>
            <ac:spMk id="3" creationId="{43C9A433-E516-3F6A-A671-35B06DEA76EF}"/>
          </ac:spMkLst>
        </pc:spChg>
        <pc:spChg chg="add mod">
          <ac:chgData name="Hemanth Kumar Konda" userId="8b277985a9e336af" providerId="LiveId" clId="{5BEEB63C-32F7-441D-972C-FB244059ECF8}" dt="2026-04-07T21:47:02.762" v="754" actId="2710"/>
          <ac:spMkLst>
            <pc:docMk/>
            <pc:sldMk cId="533640633" sldId="261"/>
            <ac:spMk id="4" creationId="{FD152136-F55B-7318-D111-902B5593AAC1}"/>
          </ac:spMkLst>
        </pc:spChg>
        <pc:spChg chg="add mod">
          <ac:chgData name="Hemanth Kumar Konda" userId="8b277985a9e336af" providerId="LiveId" clId="{5BEEB63C-32F7-441D-972C-FB244059ECF8}" dt="2026-04-07T20:17:48.897" v="440" actId="6549"/>
          <ac:spMkLst>
            <pc:docMk/>
            <pc:sldMk cId="533640633" sldId="261"/>
            <ac:spMk id="32" creationId="{E2370728-77F2-282F-3E88-E3D067C3BDE7}"/>
          </ac:spMkLst>
        </pc:spChg>
        <pc:spChg chg="add mod">
          <ac:chgData name="Hemanth Kumar Konda" userId="8b277985a9e336af" providerId="LiveId" clId="{5BEEB63C-32F7-441D-972C-FB244059ECF8}" dt="2026-04-07T20:17:34.201" v="435" actId="14100"/>
          <ac:spMkLst>
            <pc:docMk/>
            <pc:sldMk cId="533640633" sldId="261"/>
            <ac:spMk id="33" creationId="{39BC1D4B-0293-3DEE-332D-DAC039029C76}"/>
          </ac:spMkLst>
        </pc:spChg>
        <pc:spChg chg="add mod">
          <ac:chgData name="Hemanth Kumar Konda" userId="8b277985a9e336af" providerId="LiveId" clId="{5BEEB63C-32F7-441D-972C-FB244059ECF8}" dt="2026-04-07T20:48:40.044" v="539" actId="1076"/>
          <ac:spMkLst>
            <pc:docMk/>
            <pc:sldMk cId="533640633" sldId="261"/>
            <ac:spMk id="36" creationId="{D10B174F-5C17-8034-91B2-AE4B82C213C8}"/>
          </ac:spMkLst>
        </pc:spChg>
        <pc:spChg chg="add mod">
          <ac:chgData name="Hemanth Kumar Konda" userId="8b277985a9e336af" providerId="LiveId" clId="{5BEEB63C-32F7-441D-972C-FB244059ECF8}" dt="2026-04-07T20:48:31.884" v="536" actId="2710"/>
          <ac:spMkLst>
            <pc:docMk/>
            <pc:sldMk cId="533640633" sldId="261"/>
            <ac:spMk id="37" creationId="{AAD5D19E-8877-7AA5-66B2-16550A45DDD0}"/>
          </ac:spMkLst>
        </pc:spChg>
        <pc:graphicFrameChg chg="add mod">
          <ac:chgData name="Hemanth Kumar Konda" userId="8b277985a9e336af" providerId="LiveId" clId="{5BEEB63C-32F7-441D-972C-FB244059ECF8}" dt="2026-04-07T20:03:39.280" v="331" actId="692"/>
          <ac:graphicFrameMkLst>
            <pc:docMk/>
            <pc:sldMk cId="533640633" sldId="261"/>
            <ac:graphicFrameMk id="7" creationId="{43D73F47-E701-91B8-27E4-C45CFDD9E451}"/>
          </ac:graphicFrameMkLst>
        </pc:graphicFrameChg>
        <pc:graphicFrameChg chg="add del mod">
          <ac:chgData name="Hemanth Kumar Konda" userId="8b277985a9e336af" providerId="LiveId" clId="{5BEEB63C-32F7-441D-972C-FB244059ECF8}" dt="2026-04-07T19:55:49.203" v="202" actId="1076"/>
          <ac:graphicFrameMkLst>
            <pc:docMk/>
            <pc:sldMk cId="533640633" sldId="261"/>
            <ac:graphicFrameMk id="10" creationId="{A108CE95-AC9E-58B9-630F-40528D204FC0}"/>
          </ac:graphicFrameMkLst>
        </pc:graphicFrameChg>
        <pc:graphicFrameChg chg="add del mod">
          <ac:chgData name="Hemanth Kumar Konda" userId="8b277985a9e336af" providerId="LiveId" clId="{5BEEB63C-32F7-441D-972C-FB244059ECF8}" dt="2026-04-07T19:47:12.414" v="135" actId="478"/>
          <ac:graphicFrameMkLst>
            <pc:docMk/>
            <pc:sldMk cId="533640633" sldId="261"/>
            <ac:graphicFrameMk id="17" creationId="{24602DC6-65A9-454B-2F8A-351A230A59AB}"/>
          </ac:graphicFrameMkLst>
        </pc:graphicFrameChg>
        <pc:graphicFrameChg chg="add del mod">
          <ac:chgData name="Hemanth Kumar Konda" userId="8b277985a9e336af" providerId="LiveId" clId="{5BEEB63C-32F7-441D-972C-FB244059ECF8}" dt="2026-04-07T19:55:47.772" v="199" actId="14100"/>
          <ac:graphicFrameMkLst>
            <pc:docMk/>
            <pc:sldMk cId="533640633" sldId="261"/>
            <ac:graphicFrameMk id="24" creationId="{E3790711-AEED-F4A5-02A6-C3C82F468FE7}"/>
          </ac:graphicFrameMkLst>
        </pc:graphicFrameChg>
        <pc:graphicFrameChg chg="add mod">
          <ac:chgData name="Hemanth Kumar Konda" userId="8b277985a9e336af" providerId="LiveId" clId="{5BEEB63C-32F7-441D-972C-FB244059ECF8}" dt="2026-04-07T19:54:10.781" v="179" actId="1957"/>
          <ac:graphicFrameMkLst>
            <pc:docMk/>
            <pc:sldMk cId="533640633" sldId="261"/>
            <ac:graphicFrameMk id="28" creationId="{84C7CEE0-02C6-27C1-A4BB-768556EDD30D}"/>
          </ac:graphicFrameMkLst>
        </pc:graphicFrameChg>
        <pc:graphicFrameChg chg="add mod">
          <ac:chgData name="Hemanth Kumar Konda" userId="8b277985a9e336af" providerId="LiveId" clId="{5BEEB63C-32F7-441D-972C-FB244059ECF8}" dt="2026-04-07T20:08:45.850" v="388" actId="14100"/>
          <ac:graphicFrameMkLst>
            <pc:docMk/>
            <pc:sldMk cId="533640633" sldId="261"/>
            <ac:graphicFrameMk id="31" creationId="{7EC78730-9710-42F5-7B8F-1C2CE8A2AC42}"/>
          </ac:graphicFrameMkLst>
        </pc:graphicFrameChg>
      </pc:sldChg>
      <pc:sldChg chg="new del">
        <pc:chgData name="Hemanth Kumar Konda" userId="8b277985a9e336af" providerId="LiveId" clId="{5BEEB63C-32F7-441D-972C-FB244059ECF8}" dt="2026-04-07T20:31:37.733" v="466" actId="2696"/>
        <pc:sldMkLst>
          <pc:docMk/>
          <pc:sldMk cId="2294917888" sldId="262"/>
        </pc:sldMkLst>
      </pc:sldChg>
      <pc:sldChg chg="addSp delSp new del mod">
        <pc:chgData name="Hemanth Kumar Konda" userId="8b277985a9e336af" providerId="LiveId" clId="{5BEEB63C-32F7-441D-972C-FB244059ECF8}" dt="2026-04-07T20:38:09.878" v="504" actId="2696"/>
        <pc:sldMkLst>
          <pc:docMk/>
          <pc:sldMk cId="3372834066" sldId="262"/>
        </pc:sldMkLst>
        <pc:spChg chg="add del">
          <ac:chgData name="Hemanth Kumar Konda" userId="8b277985a9e336af" providerId="LiveId" clId="{5BEEB63C-32F7-441D-972C-FB244059ECF8}" dt="2026-04-07T20:37:51.052" v="503" actId="478"/>
          <ac:spMkLst>
            <pc:docMk/>
            <pc:sldMk cId="3372834066" sldId="262"/>
            <ac:spMk id="2" creationId="{A71BC4AA-3CE0-0D84-7516-188D93ADA9F2}"/>
          </ac:spMkLst>
        </pc:spChg>
      </pc:sldChg>
      <pc:sldChg chg="addSp delSp modSp new mod setBg modClrScheme chgLayout">
        <pc:chgData name="Hemanth Kumar Konda" userId="8b277985a9e336af" providerId="LiveId" clId="{5BEEB63C-32F7-441D-972C-FB244059ECF8}" dt="2026-04-08T14:21:09.879" v="964" actId="404"/>
        <pc:sldMkLst>
          <pc:docMk/>
          <pc:sldMk cId="3515217942" sldId="262"/>
        </pc:sldMkLst>
        <pc:spChg chg="del">
          <ac:chgData name="Hemanth Kumar Konda" userId="8b277985a9e336af" providerId="LiveId" clId="{5BEEB63C-32F7-441D-972C-FB244059ECF8}" dt="2026-04-07T20:38:31.387" v="506" actId="478"/>
          <ac:spMkLst>
            <pc:docMk/>
            <pc:sldMk cId="3515217942" sldId="262"/>
            <ac:spMk id="2" creationId="{D8A60DF0-0FD9-6191-A8E5-B7217C5C56F6}"/>
          </ac:spMkLst>
        </pc:spChg>
        <pc:spChg chg="del">
          <ac:chgData name="Hemanth Kumar Konda" userId="8b277985a9e336af" providerId="LiveId" clId="{5BEEB63C-32F7-441D-972C-FB244059ECF8}" dt="2026-04-07T20:38:44.602" v="507" actId="478"/>
          <ac:spMkLst>
            <pc:docMk/>
            <pc:sldMk cId="3515217942" sldId="262"/>
            <ac:spMk id="3" creationId="{61229C51-D84B-434F-AC1C-3DCEEB921786}"/>
          </ac:spMkLst>
        </pc:spChg>
        <pc:spChg chg="add del mod">
          <ac:chgData name="Hemanth Kumar Konda" userId="8b277985a9e336af" providerId="LiveId" clId="{5BEEB63C-32F7-441D-972C-FB244059ECF8}" dt="2026-04-07T20:43:15.516" v="509" actId="700"/>
          <ac:spMkLst>
            <pc:docMk/>
            <pc:sldMk cId="3515217942" sldId="262"/>
            <ac:spMk id="4" creationId="{9A6E10A4-B6EE-4C1E-1ACE-F2C6F0F60085}"/>
          </ac:spMkLst>
        </pc:spChg>
        <pc:spChg chg="add del mod">
          <ac:chgData name="Hemanth Kumar Konda" userId="8b277985a9e336af" providerId="LiveId" clId="{5BEEB63C-32F7-441D-972C-FB244059ECF8}" dt="2026-04-07T20:43:15.516" v="509" actId="700"/>
          <ac:spMkLst>
            <pc:docMk/>
            <pc:sldMk cId="3515217942" sldId="262"/>
            <ac:spMk id="5" creationId="{565789FF-3E6E-28B6-F84A-563370712A53}"/>
          </ac:spMkLst>
        </pc:spChg>
        <pc:spChg chg="add mod">
          <ac:chgData name="Hemanth Kumar Konda" userId="8b277985a9e336af" providerId="LiveId" clId="{5BEEB63C-32F7-441D-972C-FB244059ECF8}" dt="2026-04-07T20:49:30.197" v="544" actId="1076"/>
          <ac:spMkLst>
            <pc:docMk/>
            <pc:sldMk cId="3515217942" sldId="262"/>
            <ac:spMk id="6" creationId="{0DDECC3E-6BEC-5288-85B1-147541CA20CD}"/>
          </ac:spMkLst>
        </pc:spChg>
        <pc:spChg chg="add mod">
          <ac:chgData name="Hemanth Kumar Konda" userId="8b277985a9e336af" providerId="LiveId" clId="{5BEEB63C-32F7-441D-972C-FB244059ECF8}" dt="2026-04-08T14:21:09.879" v="964" actId="404"/>
          <ac:spMkLst>
            <pc:docMk/>
            <pc:sldMk cId="3515217942" sldId="262"/>
            <ac:spMk id="7" creationId="{5BEC8907-2664-DD2C-238A-0C423B3FF3C0}"/>
          </ac:spMkLst>
        </pc:spChg>
        <pc:spChg chg="add mod">
          <ac:chgData name="Hemanth Kumar Konda" userId="8b277985a9e336af" providerId="LiveId" clId="{5BEEB63C-32F7-441D-972C-FB244059ECF8}" dt="2026-04-07T21:01:47.053" v="647" actId="113"/>
          <ac:spMkLst>
            <pc:docMk/>
            <pc:sldMk cId="3515217942" sldId="262"/>
            <ac:spMk id="11" creationId="{7945814B-E372-829E-8AB4-F33EE4528E45}"/>
          </ac:spMkLst>
        </pc:spChg>
        <pc:spChg chg="add mod">
          <ac:chgData name="Hemanth Kumar Konda" userId="8b277985a9e336af" providerId="LiveId" clId="{5BEEB63C-32F7-441D-972C-FB244059ECF8}" dt="2026-04-07T21:08:29.354" v="668" actId="1076"/>
          <ac:spMkLst>
            <pc:docMk/>
            <pc:sldMk cId="3515217942" sldId="262"/>
            <ac:spMk id="12" creationId="{36419FEE-25D1-7B33-8A74-92714DA07B18}"/>
          </ac:spMkLst>
        </pc:spChg>
        <pc:spChg chg="add mod">
          <ac:chgData name="Hemanth Kumar Konda" userId="8b277985a9e336af" providerId="LiveId" clId="{5BEEB63C-32F7-441D-972C-FB244059ECF8}" dt="2026-04-07T21:13:43.056" v="690" actId="20577"/>
          <ac:spMkLst>
            <pc:docMk/>
            <pc:sldMk cId="3515217942" sldId="262"/>
            <ac:spMk id="13" creationId="{E4B7EA24-ECFD-8FA6-5535-62178938F537}"/>
          </ac:spMkLst>
        </pc:spChg>
        <pc:graphicFrameChg chg="add mod">
          <ac:chgData name="Hemanth Kumar Konda" userId="8b277985a9e336af" providerId="LiveId" clId="{5BEEB63C-32F7-441D-972C-FB244059ECF8}" dt="2026-04-07T20:58:53.926" v="626" actId="14100"/>
          <ac:graphicFrameMkLst>
            <pc:docMk/>
            <pc:sldMk cId="3515217942" sldId="262"/>
            <ac:graphicFrameMk id="10" creationId="{D3BC5AA4-C97B-6E0F-9545-E7B85B544FF5}"/>
          </ac:graphicFrameMkLst>
        </pc:graphicFrameChg>
      </pc:sldChg>
      <pc:sldChg chg="addSp delSp modSp new mod setBg">
        <pc:chgData name="Hemanth Kumar Konda" userId="8b277985a9e336af" providerId="LiveId" clId="{5BEEB63C-32F7-441D-972C-FB244059ECF8}" dt="2026-04-08T14:56:52.055" v="1135" actId="465"/>
        <pc:sldMkLst>
          <pc:docMk/>
          <pc:sldMk cId="2364115384" sldId="263"/>
        </pc:sldMkLst>
        <pc:spChg chg="add mod">
          <ac:chgData name="Hemanth Kumar Konda" userId="8b277985a9e336af" providerId="LiveId" clId="{5BEEB63C-32F7-441D-972C-FB244059ECF8}" dt="2026-04-07T22:21:18.318" v="923" actId="2710"/>
          <ac:spMkLst>
            <pc:docMk/>
            <pc:sldMk cId="2364115384" sldId="263"/>
            <ac:spMk id="2" creationId="{8F2A5E53-D438-17BC-0243-4B523EC3881A}"/>
          </ac:spMkLst>
        </pc:spChg>
        <pc:spChg chg="add del mod">
          <ac:chgData name="Hemanth Kumar Konda" userId="8b277985a9e336af" providerId="LiveId" clId="{5BEEB63C-32F7-441D-972C-FB244059ECF8}" dt="2026-04-07T22:20:45.189" v="910" actId="478"/>
          <ac:spMkLst>
            <pc:docMk/>
            <pc:sldMk cId="2364115384" sldId="263"/>
            <ac:spMk id="3" creationId="{09BC75E2-6F70-1E21-18B8-17DBF00F2467}"/>
          </ac:spMkLst>
        </pc:spChg>
        <pc:spChg chg="add mod">
          <ac:chgData name="Hemanth Kumar Konda" userId="8b277985a9e336af" providerId="LiveId" clId="{5BEEB63C-32F7-441D-972C-FB244059ECF8}" dt="2026-04-07T21:48:32.842" v="763" actId="208"/>
          <ac:spMkLst>
            <pc:docMk/>
            <pc:sldMk cId="2364115384" sldId="263"/>
            <ac:spMk id="4" creationId="{BE4E4E73-BF23-0055-DF3C-576434375521}"/>
          </ac:spMkLst>
        </pc:spChg>
        <pc:spChg chg="add mod">
          <ac:chgData name="Hemanth Kumar Konda" userId="8b277985a9e336af" providerId="LiveId" clId="{5BEEB63C-32F7-441D-972C-FB244059ECF8}" dt="2026-04-08T14:56:52.055" v="1135" actId="465"/>
          <ac:spMkLst>
            <pc:docMk/>
            <pc:sldMk cId="2364115384" sldId="263"/>
            <ac:spMk id="5" creationId="{9404C1E3-1CB2-C486-D4BD-5E1E0E4A04B1}"/>
          </ac:spMkLst>
        </pc:spChg>
        <pc:spChg chg="add mod">
          <ac:chgData name="Hemanth Kumar Konda" userId="8b277985a9e336af" providerId="LiveId" clId="{5BEEB63C-32F7-441D-972C-FB244059ECF8}" dt="2026-04-07T21:48:51.131" v="767" actId="1076"/>
          <ac:spMkLst>
            <pc:docMk/>
            <pc:sldMk cId="2364115384" sldId="263"/>
            <ac:spMk id="6" creationId="{9B4CDFCA-A540-8419-3BEF-A95BCE9AAE4D}"/>
          </ac:spMkLst>
        </pc:spChg>
        <pc:spChg chg="add mod">
          <ac:chgData name="Hemanth Kumar Konda" userId="8b277985a9e336af" providerId="LiveId" clId="{5BEEB63C-32F7-441D-972C-FB244059ECF8}" dt="2026-04-07T22:21:39.211" v="924" actId="113"/>
          <ac:spMkLst>
            <pc:docMk/>
            <pc:sldMk cId="2364115384" sldId="263"/>
            <ac:spMk id="7" creationId="{AFAA4F8A-B45A-EE4F-5259-53921872569C}"/>
          </ac:spMkLst>
        </pc:spChg>
        <pc:spChg chg="add mod">
          <ac:chgData name="Hemanth Kumar Konda" userId="8b277985a9e336af" providerId="LiveId" clId="{5BEEB63C-32F7-441D-972C-FB244059ECF8}" dt="2026-04-07T22:01:02.280" v="827" actId="1076"/>
          <ac:spMkLst>
            <pc:docMk/>
            <pc:sldMk cId="2364115384" sldId="263"/>
            <ac:spMk id="8" creationId="{19F5071F-E801-207A-A9AD-159DC3C6AF76}"/>
          </ac:spMkLst>
        </pc:spChg>
        <pc:spChg chg="add mod">
          <ac:chgData name="Hemanth Kumar Konda" userId="8b277985a9e336af" providerId="LiveId" clId="{5BEEB63C-32F7-441D-972C-FB244059ECF8}" dt="2026-04-07T22:19:58.022" v="903" actId="1076"/>
          <ac:spMkLst>
            <pc:docMk/>
            <pc:sldMk cId="2364115384" sldId="263"/>
            <ac:spMk id="9" creationId="{F8444231-B5FF-8299-D7A8-63620304014C}"/>
          </ac:spMkLst>
        </pc:spChg>
        <pc:spChg chg="add mod">
          <ac:chgData name="Hemanth Kumar Konda" userId="8b277985a9e336af" providerId="LiveId" clId="{5BEEB63C-32F7-441D-972C-FB244059ECF8}" dt="2026-04-07T22:21:45.808" v="925" actId="113"/>
          <ac:spMkLst>
            <pc:docMk/>
            <pc:sldMk cId="2364115384" sldId="263"/>
            <ac:spMk id="10" creationId="{1CAE788F-06F6-6887-40E4-09C1C51B336A}"/>
          </ac:spMkLst>
        </pc:spChg>
        <pc:spChg chg="add mod">
          <ac:chgData name="Hemanth Kumar Konda" userId="8b277985a9e336af" providerId="LiveId" clId="{5BEEB63C-32F7-441D-972C-FB244059ECF8}" dt="2026-04-07T22:01:56.562" v="839" actId="404"/>
          <ac:spMkLst>
            <pc:docMk/>
            <pc:sldMk cId="2364115384" sldId="263"/>
            <ac:spMk id="11" creationId="{9FC52912-2491-63A6-9699-55B3F551EBB8}"/>
          </ac:spMkLst>
        </pc:spChg>
        <pc:spChg chg="add mod">
          <ac:chgData name="Hemanth Kumar Konda" userId="8b277985a9e336af" providerId="LiveId" clId="{5BEEB63C-32F7-441D-972C-FB244059ECF8}" dt="2026-04-07T22:21:48.612" v="926" actId="113"/>
          <ac:spMkLst>
            <pc:docMk/>
            <pc:sldMk cId="2364115384" sldId="263"/>
            <ac:spMk id="12" creationId="{AD214AA9-9F42-7265-01C1-17F212F2B9CA}"/>
          </ac:spMkLst>
        </pc:spChg>
        <pc:spChg chg="add mod">
          <ac:chgData name="Hemanth Kumar Konda" userId="8b277985a9e336af" providerId="LiveId" clId="{5BEEB63C-32F7-441D-972C-FB244059ECF8}" dt="2026-04-07T22:13:58.280" v="855"/>
          <ac:spMkLst>
            <pc:docMk/>
            <pc:sldMk cId="2364115384" sldId="263"/>
            <ac:spMk id="13" creationId="{E4F07CF8-D287-4C14-B7BE-1ED4ECC0F15D}"/>
          </ac:spMkLst>
        </pc:spChg>
        <pc:spChg chg="add mod">
          <ac:chgData name="Hemanth Kumar Konda" userId="8b277985a9e336af" providerId="LiveId" clId="{5BEEB63C-32F7-441D-972C-FB244059ECF8}" dt="2026-04-07T22:14:38.030" v="859" actId="2711"/>
          <ac:spMkLst>
            <pc:docMk/>
            <pc:sldMk cId="2364115384" sldId="263"/>
            <ac:spMk id="14" creationId="{38A38B4E-F0DD-EE68-097F-FFD681E0D020}"/>
          </ac:spMkLst>
        </pc:spChg>
        <pc:spChg chg="add mod">
          <ac:chgData name="Hemanth Kumar Konda" userId="8b277985a9e336af" providerId="LiveId" clId="{5BEEB63C-32F7-441D-972C-FB244059ECF8}" dt="2026-04-07T22:19:31.890" v="896" actId="14100"/>
          <ac:spMkLst>
            <pc:docMk/>
            <pc:sldMk cId="2364115384" sldId="263"/>
            <ac:spMk id="15" creationId="{CCB39D69-ABB5-AFF7-2753-A21FDFF1E9E7}"/>
          </ac:spMkLst>
        </pc:spChg>
        <pc:spChg chg="add del mod">
          <ac:chgData name="Hemanth Kumar Konda" userId="8b277985a9e336af" providerId="LiveId" clId="{5BEEB63C-32F7-441D-972C-FB244059ECF8}" dt="2026-04-07T22:18:57.437" v="892" actId="478"/>
          <ac:spMkLst>
            <pc:docMk/>
            <pc:sldMk cId="2364115384" sldId="263"/>
            <ac:spMk id="16" creationId="{7D14E15B-702D-54D3-1FEC-2D5B515AA579}"/>
          </ac:spMkLst>
        </pc:spChg>
        <pc:spChg chg="add mod">
          <ac:chgData name="Hemanth Kumar Konda" userId="8b277985a9e336af" providerId="LiveId" clId="{5BEEB63C-32F7-441D-972C-FB244059ECF8}" dt="2026-04-07T22:19:41.546" v="901" actId="6549"/>
          <ac:spMkLst>
            <pc:docMk/>
            <pc:sldMk cId="2364115384" sldId="263"/>
            <ac:spMk id="17" creationId="{6DF47B61-0C0E-C154-C2DF-3D3021F65D29}"/>
          </ac:spMkLst>
        </pc:spChg>
        <pc:spChg chg="add mod">
          <ac:chgData name="Hemanth Kumar Konda" userId="8b277985a9e336af" providerId="LiveId" clId="{5BEEB63C-32F7-441D-972C-FB244059ECF8}" dt="2026-04-07T22:17:08.971" v="879"/>
          <ac:spMkLst>
            <pc:docMk/>
            <pc:sldMk cId="2364115384" sldId="263"/>
            <ac:spMk id="18" creationId="{B1727649-A0ED-B04E-0C60-93DF43C70B20}"/>
          </ac:spMkLst>
        </pc:spChg>
      </pc:sldChg>
      <pc:sldChg chg="addSp delSp modSp new del mod setBg">
        <pc:chgData name="Hemanth Kumar Konda" userId="8b277985a9e336af" providerId="LiveId" clId="{5BEEB63C-32F7-441D-972C-FB244059ECF8}" dt="2026-04-08T15:29:15.344" v="1321" actId="2696"/>
        <pc:sldMkLst>
          <pc:docMk/>
          <pc:sldMk cId="1075946451" sldId="264"/>
        </pc:sldMkLst>
        <pc:spChg chg="add mod">
          <ac:chgData name="Hemanth Kumar Konda" userId="8b277985a9e336af" providerId="LiveId" clId="{5BEEB63C-32F7-441D-972C-FB244059ECF8}" dt="2026-04-08T14:49:16.205" v="1029" actId="1076"/>
          <ac:spMkLst>
            <pc:docMk/>
            <pc:sldMk cId="1075946451" sldId="264"/>
            <ac:spMk id="2" creationId="{31E4D923-EF30-85A9-4AF1-C772B0839BE4}"/>
          </ac:spMkLst>
        </pc:spChg>
        <pc:spChg chg="add mod">
          <ac:chgData name="Hemanth Kumar Konda" userId="8b277985a9e336af" providerId="LiveId" clId="{5BEEB63C-32F7-441D-972C-FB244059ECF8}" dt="2026-04-08T15:06:35.592" v="1252" actId="14100"/>
          <ac:spMkLst>
            <pc:docMk/>
            <pc:sldMk cId="1075946451" sldId="264"/>
            <ac:spMk id="3" creationId="{E7034CAE-7B03-620D-943F-C0A45A64E01B}"/>
          </ac:spMkLst>
        </pc:spChg>
        <pc:spChg chg="add del mod">
          <ac:chgData name="Hemanth Kumar Konda" userId="8b277985a9e336af" providerId="LiveId" clId="{5BEEB63C-32F7-441D-972C-FB244059ECF8}" dt="2026-04-08T14:49:25.884" v="1030" actId="478"/>
          <ac:spMkLst>
            <pc:docMk/>
            <pc:sldMk cId="1075946451" sldId="264"/>
            <ac:spMk id="9" creationId="{77EC420F-061A-7685-C709-2CA9437D604B}"/>
          </ac:spMkLst>
        </pc:spChg>
        <pc:spChg chg="add del mod">
          <ac:chgData name="Hemanth Kumar Konda" userId="8b277985a9e336af" providerId="LiveId" clId="{5BEEB63C-32F7-441D-972C-FB244059ECF8}" dt="2026-04-08T14:49:05.502" v="1027" actId="478"/>
          <ac:spMkLst>
            <pc:docMk/>
            <pc:sldMk cId="1075946451" sldId="264"/>
            <ac:spMk id="10" creationId="{40C8EB4D-829F-0163-AEE7-CB36B8A39769}"/>
          </ac:spMkLst>
        </pc:spChg>
        <pc:spChg chg="add del mod">
          <ac:chgData name="Hemanth Kumar Konda" userId="8b277985a9e336af" providerId="LiveId" clId="{5BEEB63C-32F7-441D-972C-FB244059ECF8}" dt="2026-04-08T14:58:28.740" v="1176" actId="478"/>
          <ac:spMkLst>
            <pc:docMk/>
            <pc:sldMk cId="1075946451" sldId="264"/>
            <ac:spMk id="11" creationId="{5A539BB1-5CE1-AEEC-99A5-87B56B708509}"/>
          </ac:spMkLst>
        </pc:spChg>
        <pc:spChg chg="add del mod">
          <ac:chgData name="Hemanth Kumar Konda" userId="8b277985a9e336af" providerId="LiveId" clId="{5BEEB63C-32F7-441D-972C-FB244059ECF8}" dt="2026-04-08T14:58:28.740" v="1176" actId="478"/>
          <ac:spMkLst>
            <pc:docMk/>
            <pc:sldMk cId="1075946451" sldId="264"/>
            <ac:spMk id="12" creationId="{A91AB7F9-AD8B-19FC-6A9D-9809FD6541B8}"/>
          </ac:spMkLst>
        </pc:spChg>
        <pc:spChg chg="add del mod">
          <ac:chgData name="Hemanth Kumar Konda" userId="8b277985a9e336af" providerId="LiveId" clId="{5BEEB63C-32F7-441D-972C-FB244059ECF8}" dt="2026-04-08T15:00:39.602" v="1197" actId="478"/>
          <ac:spMkLst>
            <pc:docMk/>
            <pc:sldMk cId="1075946451" sldId="264"/>
            <ac:spMk id="13" creationId="{C13FCB19-F00C-3B3F-8364-512E5FED2BDA}"/>
          </ac:spMkLst>
        </pc:spChg>
        <pc:spChg chg="add del mod">
          <ac:chgData name="Hemanth Kumar Konda" userId="8b277985a9e336af" providerId="LiveId" clId="{5BEEB63C-32F7-441D-972C-FB244059ECF8}" dt="2026-04-08T15:00:40.835" v="1198" actId="478"/>
          <ac:spMkLst>
            <pc:docMk/>
            <pc:sldMk cId="1075946451" sldId="264"/>
            <ac:spMk id="14" creationId="{55E42753-DB9F-D1A3-13DA-F03DAA9AADC9}"/>
          </ac:spMkLst>
        </pc:spChg>
        <pc:spChg chg="add del mod">
          <ac:chgData name="Hemanth Kumar Konda" userId="8b277985a9e336af" providerId="LiveId" clId="{5BEEB63C-32F7-441D-972C-FB244059ECF8}" dt="2026-04-08T15:00:42.042" v="1199" actId="478"/>
          <ac:spMkLst>
            <pc:docMk/>
            <pc:sldMk cId="1075946451" sldId="264"/>
            <ac:spMk id="16" creationId="{693772B6-D063-C955-140C-8696B9300571}"/>
          </ac:spMkLst>
        </pc:spChg>
        <pc:spChg chg="add del mod">
          <ac:chgData name="Hemanth Kumar Konda" userId="8b277985a9e336af" providerId="LiveId" clId="{5BEEB63C-32F7-441D-972C-FB244059ECF8}" dt="2026-04-08T14:58:28.740" v="1176" actId="478"/>
          <ac:spMkLst>
            <pc:docMk/>
            <pc:sldMk cId="1075946451" sldId="264"/>
            <ac:spMk id="17" creationId="{38B7726C-877D-D200-8C40-93598A6A21B1}"/>
          </ac:spMkLst>
        </pc:spChg>
        <pc:spChg chg="add del mod">
          <ac:chgData name="Hemanth Kumar Konda" userId="8b277985a9e336af" providerId="LiveId" clId="{5BEEB63C-32F7-441D-972C-FB244059ECF8}" dt="2026-04-08T14:58:28.740" v="1176" actId="478"/>
          <ac:spMkLst>
            <pc:docMk/>
            <pc:sldMk cId="1075946451" sldId="264"/>
            <ac:spMk id="18" creationId="{80AC1373-2664-A17D-B3F6-95F7E092CE3E}"/>
          </ac:spMkLst>
        </pc:spChg>
        <pc:spChg chg="add del mod">
          <ac:chgData name="Hemanth Kumar Konda" userId="8b277985a9e336af" providerId="LiveId" clId="{5BEEB63C-32F7-441D-972C-FB244059ECF8}" dt="2026-04-08T15:00:38.052" v="1196" actId="478"/>
          <ac:spMkLst>
            <pc:docMk/>
            <pc:sldMk cId="1075946451" sldId="264"/>
            <ac:spMk id="19" creationId="{374A6E53-6625-2258-FA49-B33AF6B55D24}"/>
          </ac:spMkLst>
        </pc:spChg>
        <pc:spChg chg="add del mod">
          <ac:chgData name="Hemanth Kumar Konda" userId="8b277985a9e336af" providerId="LiveId" clId="{5BEEB63C-32F7-441D-972C-FB244059ECF8}" dt="2026-04-08T15:01:20.302" v="1213" actId="478"/>
          <ac:spMkLst>
            <pc:docMk/>
            <pc:sldMk cId="1075946451" sldId="264"/>
            <ac:spMk id="20" creationId="{DF3C6768-FB46-923C-4B4D-4FAF8F5444FC}"/>
          </ac:spMkLst>
        </pc:spChg>
        <pc:spChg chg="add del mod">
          <ac:chgData name="Hemanth Kumar Konda" userId="8b277985a9e336af" providerId="LiveId" clId="{5BEEB63C-32F7-441D-972C-FB244059ECF8}" dt="2026-04-08T15:01:19.133" v="1212" actId="478"/>
          <ac:spMkLst>
            <pc:docMk/>
            <pc:sldMk cId="1075946451" sldId="264"/>
            <ac:spMk id="21" creationId="{25454FC5-2594-988D-EF27-6297530F9618}"/>
          </ac:spMkLst>
        </pc:spChg>
        <pc:spChg chg="add del mod">
          <ac:chgData name="Hemanth Kumar Konda" userId="8b277985a9e336af" providerId="LiveId" clId="{5BEEB63C-32F7-441D-972C-FB244059ECF8}" dt="2026-04-08T15:01:18.009" v="1211" actId="478"/>
          <ac:spMkLst>
            <pc:docMk/>
            <pc:sldMk cId="1075946451" sldId="264"/>
            <ac:spMk id="22" creationId="{F0CDB563-7AD0-0ADD-ADA4-71A36560F49B}"/>
          </ac:spMkLst>
        </pc:spChg>
        <pc:spChg chg="add del mod">
          <ac:chgData name="Hemanth Kumar Konda" userId="8b277985a9e336af" providerId="LiveId" clId="{5BEEB63C-32F7-441D-972C-FB244059ECF8}" dt="2026-04-08T15:01:17.037" v="1210" actId="478"/>
          <ac:spMkLst>
            <pc:docMk/>
            <pc:sldMk cId="1075946451" sldId="264"/>
            <ac:spMk id="23" creationId="{8CC89048-597C-0952-1443-02DD8435A024}"/>
          </ac:spMkLst>
        </pc:spChg>
        <pc:spChg chg="add mod">
          <ac:chgData name="Hemanth Kumar Konda" userId="8b277985a9e336af" providerId="LiveId" clId="{5BEEB63C-32F7-441D-972C-FB244059ECF8}" dt="2026-04-08T15:04:00.597" v="1246" actId="122"/>
          <ac:spMkLst>
            <pc:docMk/>
            <pc:sldMk cId="1075946451" sldId="264"/>
            <ac:spMk id="24" creationId="{81765E54-4169-0908-3BA7-1B22E14BCDE1}"/>
          </ac:spMkLst>
        </pc:spChg>
        <pc:spChg chg="add mod">
          <ac:chgData name="Hemanth Kumar Konda" userId="8b277985a9e336af" providerId="LiveId" clId="{5BEEB63C-32F7-441D-972C-FB244059ECF8}" dt="2026-04-08T15:04:00.597" v="1246" actId="122"/>
          <ac:spMkLst>
            <pc:docMk/>
            <pc:sldMk cId="1075946451" sldId="264"/>
            <ac:spMk id="25" creationId="{85CF4039-DCF6-7492-2469-B75D60D0FFD7}"/>
          </ac:spMkLst>
        </pc:spChg>
        <pc:spChg chg="add mod">
          <ac:chgData name="Hemanth Kumar Konda" userId="8b277985a9e336af" providerId="LiveId" clId="{5BEEB63C-32F7-441D-972C-FB244059ECF8}" dt="2026-04-08T15:04:04.530" v="1248" actId="20577"/>
          <ac:spMkLst>
            <pc:docMk/>
            <pc:sldMk cId="1075946451" sldId="264"/>
            <ac:spMk id="26" creationId="{1566B694-C67A-FD0C-5239-782D0FE7A9DC}"/>
          </ac:spMkLst>
        </pc:spChg>
        <pc:spChg chg="add mod">
          <ac:chgData name="Hemanth Kumar Konda" userId="8b277985a9e336af" providerId="LiveId" clId="{5BEEB63C-32F7-441D-972C-FB244059ECF8}" dt="2026-04-08T15:04:00.597" v="1246" actId="122"/>
          <ac:spMkLst>
            <pc:docMk/>
            <pc:sldMk cId="1075946451" sldId="264"/>
            <ac:spMk id="27" creationId="{469D35D9-2A10-9E98-3235-C2CF1E5798BD}"/>
          </ac:spMkLst>
        </pc:spChg>
        <pc:spChg chg="add mod">
          <ac:chgData name="Hemanth Kumar Konda" userId="8b277985a9e336af" providerId="LiveId" clId="{5BEEB63C-32F7-441D-972C-FB244059ECF8}" dt="2026-04-08T15:04:00.597" v="1246" actId="122"/>
          <ac:spMkLst>
            <pc:docMk/>
            <pc:sldMk cId="1075946451" sldId="264"/>
            <ac:spMk id="28" creationId="{9E1A5234-2B2E-1147-11CE-E31D8EF93143}"/>
          </ac:spMkLst>
        </pc:spChg>
        <pc:cxnChg chg="add del">
          <ac:chgData name="Hemanth Kumar Konda" userId="8b277985a9e336af" providerId="LiveId" clId="{5BEEB63C-32F7-441D-972C-FB244059ECF8}" dt="2026-04-08T14:47:04.720" v="1006" actId="11529"/>
          <ac:cxnSpMkLst>
            <pc:docMk/>
            <pc:sldMk cId="1075946451" sldId="264"/>
            <ac:cxnSpMk id="5" creationId="{BD2D8801-35C7-7AE0-A923-1366045D8D7D}"/>
          </ac:cxnSpMkLst>
        </pc:cxnChg>
        <pc:cxnChg chg="add mod">
          <ac:chgData name="Hemanth Kumar Konda" userId="8b277985a9e336af" providerId="LiveId" clId="{5BEEB63C-32F7-441D-972C-FB244059ECF8}" dt="2026-04-08T14:49:16.205" v="1029" actId="1076"/>
          <ac:cxnSpMkLst>
            <pc:docMk/>
            <pc:sldMk cId="1075946451" sldId="264"/>
            <ac:cxnSpMk id="7" creationId="{153C00C2-9268-363B-3294-0496237DB8E3}"/>
          </ac:cxnSpMkLst>
        </pc:cxnChg>
      </pc:sldChg>
      <pc:sldChg chg="addSp delSp modSp add mod">
        <pc:chgData name="Hemanth Kumar Konda" userId="8b277985a9e336af" providerId="LiveId" clId="{5BEEB63C-32F7-441D-972C-FB244059ECF8}" dt="2026-04-08T15:28:36.646" v="1320" actId="20577"/>
        <pc:sldMkLst>
          <pc:docMk/>
          <pc:sldMk cId="2744617278" sldId="265"/>
        </pc:sldMkLst>
        <pc:spChg chg="del">
          <ac:chgData name="Hemanth Kumar Konda" userId="8b277985a9e336af" providerId="LiveId" clId="{5BEEB63C-32F7-441D-972C-FB244059ECF8}" dt="2026-04-08T15:20:45.152" v="1272" actId="478"/>
          <ac:spMkLst>
            <pc:docMk/>
            <pc:sldMk cId="2744617278" sldId="265"/>
            <ac:spMk id="24" creationId="{81765E54-4169-0908-3BA7-1B22E14BCDE1}"/>
          </ac:spMkLst>
        </pc:spChg>
        <pc:spChg chg="del">
          <ac:chgData name="Hemanth Kumar Konda" userId="8b277985a9e336af" providerId="LiveId" clId="{5BEEB63C-32F7-441D-972C-FB244059ECF8}" dt="2026-04-08T15:20:45.152" v="1272" actId="478"/>
          <ac:spMkLst>
            <pc:docMk/>
            <pc:sldMk cId="2744617278" sldId="265"/>
            <ac:spMk id="25" creationId="{85CF4039-DCF6-7492-2469-B75D60D0FFD7}"/>
          </ac:spMkLst>
        </pc:spChg>
        <pc:spChg chg="del">
          <ac:chgData name="Hemanth Kumar Konda" userId="8b277985a9e336af" providerId="LiveId" clId="{5BEEB63C-32F7-441D-972C-FB244059ECF8}" dt="2026-04-08T15:20:45.152" v="1272" actId="478"/>
          <ac:spMkLst>
            <pc:docMk/>
            <pc:sldMk cId="2744617278" sldId="265"/>
            <ac:spMk id="26" creationId="{1566B694-C67A-FD0C-5239-782D0FE7A9DC}"/>
          </ac:spMkLst>
        </pc:spChg>
        <pc:spChg chg="del">
          <ac:chgData name="Hemanth Kumar Konda" userId="8b277985a9e336af" providerId="LiveId" clId="{5BEEB63C-32F7-441D-972C-FB244059ECF8}" dt="2026-04-08T15:20:45.152" v="1272" actId="478"/>
          <ac:spMkLst>
            <pc:docMk/>
            <pc:sldMk cId="2744617278" sldId="265"/>
            <ac:spMk id="27" creationId="{469D35D9-2A10-9E98-3235-C2CF1E5798BD}"/>
          </ac:spMkLst>
        </pc:spChg>
        <pc:spChg chg="del">
          <ac:chgData name="Hemanth Kumar Konda" userId="8b277985a9e336af" providerId="LiveId" clId="{5BEEB63C-32F7-441D-972C-FB244059ECF8}" dt="2026-04-08T15:20:45.152" v="1272" actId="478"/>
          <ac:spMkLst>
            <pc:docMk/>
            <pc:sldMk cId="2744617278" sldId="265"/>
            <ac:spMk id="28" creationId="{9E1A5234-2B2E-1147-11CE-E31D8EF93143}"/>
          </ac:spMkLst>
        </pc:spChg>
        <pc:graphicFrameChg chg="add mod modGraphic">
          <ac:chgData name="Hemanth Kumar Konda" userId="8b277985a9e336af" providerId="LiveId" clId="{5BEEB63C-32F7-441D-972C-FB244059ECF8}" dt="2026-04-08T15:28:36.646" v="1320" actId="20577"/>
          <ac:graphicFrameMkLst>
            <pc:docMk/>
            <pc:sldMk cId="2744617278" sldId="265"/>
            <ac:graphicFrameMk id="4" creationId="{6B0BB07C-B0BD-2ED2-1D3F-13CE24F492EA}"/>
          </ac:graphicFrameMkLst>
        </pc:graphicFrameChg>
      </pc:sldChg>
      <pc:sldChg chg="addSp modSp new mod setBg">
        <pc:chgData name="Hemanth Kumar Konda" userId="8b277985a9e336af" providerId="LiveId" clId="{5BEEB63C-32F7-441D-972C-FB244059ECF8}" dt="2026-04-08T15:35:46.351" v="1366" actId="2711"/>
        <pc:sldMkLst>
          <pc:docMk/>
          <pc:sldMk cId="2497456053" sldId="266"/>
        </pc:sldMkLst>
        <pc:spChg chg="add mod">
          <ac:chgData name="Hemanth Kumar Konda" userId="8b277985a9e336af" providerId="LiveId" clId="{5BEEB63C-32F7-441D-972C-FB244059ECF8}" dt="2026-04-08T15:35:46.351" v="1366" actId="2711"/>
          <ac:spMkLst>
            <pc:docMk/>
            <pc:sldMk cId="2497456053" sldId="266"/>
            <ac:spMk id="3" creationId="{35CA181F-EF06-AD59-249F-930D8DA6A5F8}"/>
          </ac:spMkLst>
        </pc:spChg>
        <pc:spChg chg="add mod">
          <ac:chgData name="Hemanth Kumar Konda" userId="8b277985a9e336af" providerId="LiveId" clId="{5BEEB63C-32F7-441D-972C-FB244059ECF8}" dt="2026-04-08T15:35:46.351" v="1366" actId="2711"/>
          <ac:spMkLst>
            <pc:docMk/>
            <pc:sldMk cId="2497456053" sldId="266"/>
            <ac:spMk id="5" creationId="{2D161EE7-DDEC-2900-D055-157F403C1958}"/>
          </ac:spMkLst>
        </pc:spChg>
        <pc:spChg chg="add mod">
          <ac:chgData name="Hemanth Kumar Konda" userId="8b277985a9e336af" providerId="LiveId" clId="{5BEEB63C-32F7-441D-972C-FB244059ECF8}" dt="2026-04-08T15:35:46.351" v="1366" actId="2711"/>
          <ac:spMkLst>
            <pc:docMk/>
            <pc:sldMk cId="2497456053" sldId="266"/>
            <ac:spMk id="7" creationId="{1A43E309-6D81-CA16-0FB6-44C572B966A5}"/>
          </ac:spMkLst>
        </pc:spChg>
      </pc:sldChg>
      <pc:sldChg chg="addSp delSp modSp new mod">
        <pc:chgData name="Hemanth Kumar Konda" userId="8b277985a9e336af" providerId="LiveId" clId="{5BEEB63C-32F7-441D-972C-FB244059ECF8}" dt="2026-04-08T15:40:06.056" v="1414" actId="207"/>
        <pc:sldMkLst>
          <pc:docMk/>
          <pc:sldMk cId="1529337511" sldId="267"/>
        </pc:sldMkLst>
        <pc:spChg chg="add del mod">
          <ac:chgData name="Hemanth Kumar Konda" userId="8b277985a9e336af" providerId="LiveId" clId="{5BEEB63C-32F7-441D-972C-FB244059ECF8}" dt="2026-04-08T15:40:06.056" v="1414" actId="207"/>
          <ac:spMkLst>
            <pc:docMk/>
            <pc:sldMk cId="1529337511" sldId="267"/>
            <ac:spMk id="3" creationId="{4A162B04-F2C9-E8FC-3746-56929CA26C2D}"/>
          </ac:spMkLst>
        </pc:spChg>
        <pc:spChg chg="add del mod">
          <ac:chgData name="Hemanth Kumar Konda" userId="8b277985a9e336af" providerId="LiveId" clId="{5BEEB63C-32F7-441D-972C-FB244059ECF8}" dt="2026-04-08T15:37:07.467" v="1374" actId="478"/>
          <ac:spMkLst>
            <pc:docMk/>
            <pc:sldMk cId="1529337511" sldId="267"/>
            <ac:spMk id="5" creationId="{609DACBB-8F14-335C-2A63-86515386CE63}"/>
          </ac:spMkLst>
        </pc:spChg>
        <pc:spChg chg="add mod">
          <ac:chgData name="Hemanth Kumar Konda" userId="8b277985a9e336af" providerId="LiveId" clId="{5BEEB63C-32F7-441D-972C-FB244059ECF8}" dt="2026-04-08T15:38:32.726" v="1403" actId="1076"/>
          <ac:spMkLst>
            <pc:docMk/>
            <pc:sldMk cId="1529337511" sldId="267"/>
            <ac:spMk id="6" creationId="{36263BB6-AB0F-9242-3DF7-98ED092840A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rgbClr val="E1EE3A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AC0DB355-2D46-4EE0-B669-12D67839DBE6}" type="VALUE">
                      <a:rPr lang="en-US" smtClean="0"/>
                      <a:pPr>
                        <a:defRPr/>
                      </a:pPr>
                      <a:t>[VALUE]</a:t>
                    </a:fld>
                    <a:r>
                      <a:rPr lang="en-US" dirty="0"/>
                      <a:t>%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1BED-4C12-9958-4E7C7BCAA539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5223B2AF-FFA0-48F7-92A6-4CDAA386DD71}" type="VALUE">
                      <a:rPr lang="en-US" smtClean="0"/>
                      <a:pPr>
                        <a:defRPr/>
                      </a:pPr>
                      <a:t>[VALUE]</a:t>
                    </a:fld>
                    <a:r>
                      <a:rPr lang="en-US" dirty="0"/>
                      <a:t>%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1BED-4C12-9958-4E7C7BCAA53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Full Time</c:v>
                </c:pt>
                <c:pt idx="1">
                  <c:v>Part Time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</c:v>
                </c:pt>
                <c:pt idx="1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ED-4C12-9958-4E7C7BCAA5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-27"/>
        <c:axId val="1760295615"/>
        <c:axId val="1760294655"/>
      </c:barChart>
      <c:catAx>
        <c:axId val="1760295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0294655"/>
        <c:crosses val="autoZero"/>
        <c:auto val="1"/>
        <c:lblAlgn val="ctr"/>
        <c:lblOffset val="100"/>
        <c:noMultiLvlLbl val="0"/>
      </c:catAx>
      <c:valAx>
        <c:axId val="1760294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0295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55870207"/>
        <c:axId val="655873087"/>
      </c:barChart>
      <c:catAx>
        <c:axId val="6558702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5873087"/>
        <c:crosses val="autoZero"/>
        <c:auto val="1"/>
        <c:lblAlgn val="ctr"/>
        <c:lblOffset val="100"/>
        <c:noMultiLvlLbl val="0"/>
      </c:catAx>
      <c:valAx>
        <c:axId val="6558730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58702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3551622620031818"/>
          <c:y val="4.059540351351619E-2"/>
          <c:w val="0.59763485994051202"/>
          <c:h val="0.8392290964837667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E1EE3A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2C19B74-D8E3-458C-A622-4B373D4AE911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E91F-4931-90AA-F063EFCB14C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564C4DA-E1AE-4BF8-9FC9-DD5536E949DF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E91F-4931-90AA-F063EFCB14C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16DAE596-4639-4490-8F6B-9D8161C556F2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E91F-4931-90AA-F063EFCB14C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8-Year</c:v>
                </c:pt>
                <c:pt idx="1">
                  <c:v>6-Year</c:v>
                </c:pt>
                <c:pt idx="2">
                  <c:v>4-Year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51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B7-4296-85C2-AD731A697C0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648754895"/>
        <c:axId val="648755375"/>
      </c:barChart>
      <c:catAx>
        <c:axId val="64875489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8755375"/>
        <c:crosses val="autoZero"/>
        <c:auto val="1"/>
        <c:lblAlgn val="ctr"/>
        <c:lblOffset val="100"/>
        <c:noMultiLvlLbl val="0"/>
      </c:catAx>
      <c:valAx>
        <c:axId val="6487553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87548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E1EE3A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0387BD29-4A7D-4F18-9093-493D1B553EEC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CAF7-40C9-80E6-FE4452DE703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A54213D-20AF-44B2-ABC2-692BCDA2B69D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CAF7-40C9-80E6-FE4452DE703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807B9CC1-8C6C-4B06-9628-EC7CDA776CF7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CAF7-40C9-80E6-FE4452DE703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DDAF6AA4-05F0-46AC-8717-E73E1B2CE515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CAF7-40C9-80E6-FE4452DE703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0825A6DC-BDF4-4F67-87E6-5D47C6003A23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CAF7-40C9-80E6-FE4452DE703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52191805-C881-440F-B5C1-C1C76D0EB696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AF7-40C9-80E6-FE4452DE7033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7C914870-09E2-4463-BCCF-460494C705B2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CAF7-40C9-80E6-FE4452DE7033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F56792C4-373B-49F5-A477-0C7E18052A5B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AF7-40C9-80E6-FE4452DE7033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13884150-8B72-41D8-9B52-9D44F003C281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CAF7-40C9-80E6-FE4452DE70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American Indian</c:v>
                </c:pt>
                <c:pt idx="1">
                  <c:v>Two or More Races</c:v>
                </c:pt>
                <c:pt idx="2">
                  <c:v>African American</c:v>
                </c:pt>
                <c:pt idx="3">
                  <c:v>Ethnicity Unknown</c:v>
                </c:pt>
                <c:pt idx="4">
                  <c:v>White</c:v>
                </c:pt>
                <c:pt idx="5">
                  <c:v>Hispanic/Latino</c:v>
                </c:pt>
                <c:pt idx="6">
                  <c:v>Asian</c:v>
                </c:pt>
                <c:pt idx="7">
                  <c:v>U.S. Non-resident</c:v>
                </c:pt>
                <c:pt idx="8">
                  <c:v>Native Hawaiian/Pacific Islander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29</c:v>
                </c:pt>
                <c:pt idx="1">
                  <c:v>41</c:v>
                </c:pt>
                <c:pt idx="2">
                  <c:v>42</c:v>
                </c:pt>
                <c:pt idx="3">
                  <c:v>52</c:v>
                </c:pt>
                <c:pt idx="4">
                  <c:v>55</c:v>
                </c:pt>
                <c:pt idx="5">
                  <c:v>55</c:v>
                </c:pt>
                <c:pt idx="6">
                  <c:v>70</c:v>
                </c:pt>
                <c:pt idx="7">
                  <c:v>72</c:v>
                </c:pt>
                <c:pt idx="8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0E-4212-9C9A-AB55BA17C90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931616079"/>
        <c:axId val="931616559"/>
      </c:barChart>
      <c:catAx>
        <c:axId val="9316160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1616559"/>
        <c:crosses val="autoZero"/>
        <c:auto val="1"/>
        <c:lblAlgn val="ctr"/>
        <c:lblOffset val="100"/>
        <c:noMultiLvlLbl val="0"/>
      </c:catAx>
      <c:valAx>
        <c:axId val="9316165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accent1">
                  <a:shade val="15000"/>
                  <a:alpha val="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16160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BA081-684E-4772-A0D8-44D6D47345CC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D28DE-1A3D-4FE6-B024-C6BAB1DE5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63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afternoon, everyone.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My name is Hemanth Kumar Konda and today I'm here to present my analysis on student retention and graduation equity at the </a:t>
            </a:r>
            <a:r>
              <a:rPr lang="en-US" b="1" dirty="0"/>
              <a:t>University </a:t>
            </a:r>
            <a:r>
              <a:rPr lang="en-US" b="0" dirty="0"/>
              <a:t>of Louisiana at Lafayette</a:t>
            </a:r>
            <a:r>
              <a:rPr lang="en-US" dirty="0"/>
              <a:t>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Student Retention is nothing but </a:t>
            </a:r>
            <a:r>
              <a:rPr lang="en-US" b="0" i="0" dirty="0">
                <a:solidFill>
                  <a:srgbClr val="EEF0FF"/>
                </a:solidFill>
                <a:effectLst/>
                <a:latin typeface="Google Sans"/>
              </a:rPr>
              <a:t>a school's ability to keep students enrolled from year to year until they graduate.</a:t>
            </a:r>
            <a:br>
              <a:rPr lang="en-US" b="0" i="0" dirty="0">
                <a:solidFill>
                  <a:srgbClr val="EEF0FF"/>
                </a:solidFill>
                <a:effectLst/>
                <a:latin typeface="Google Sans"/>
              </a:rPr>
            </a:br>
            <a:br>
              <a:rPr lang="en-US" b="0" i="0" dirty="0">
                <a:solidFill>
                  <a:srgbClr val="EEF0FF"/>
                </a:solidFill>
                <a:effectLst/>
                <a:latin typeface="Google Sans"/>
              </a:rPr>
            </a:br>
            <a:r>
              <a:rPr lang="en-US" b="0" i="0" dirty="0">
                <a:solidFill>
                  <a:srgbClr val="EEF0FF"/>
                </a:solidFill>
                <a:effectLst/>
                <a:latin typeface="Google Sans"/>
              </a:rPr>
              <a:t>Graduation Equity means ensuring every student has a fair chance to graduate.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D28DE-1A3D-4FE6-B024-C6BAB1DE50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499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my reason to taking this as problem statement - Across the country, colleges are struggling to keep students enrolled and get them across the finish line.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When a student leaves without a degree, everybody loses — the student loses future earnings, the university loses tuition, and the community loses a skilled graduate.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real question is not whether these gaps exist. We know they do. </a:t>
            </a:r>
            <a:br>
              <a:rPr lang="en-US" dirty="0"/>
            </a:br>
            <a:r>
              <a:rPr lang="en-US" dirty="0"/>
              <a:t>The question is — are we measuring them clearly enough to do something about it?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That is exactly what this analysis tries to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D28DE-1A3D-4FE6-B024-C6BAB1DE50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68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where did the data come from? I used IPEDS — that stands for Integrated Postsecondary Education Data System.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Think of it as the federal government's official report card for every college in America.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Every university is required to submit data to IPEDS every year.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 pulled three specific datasets — enrollment numbers, retention rates, and graduation rates.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 then cleaned that raw data, organized it into a structured format, and loaded it into Power BI to build the dashboard you're about to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D28DE-1A3D-4FE6-B024-C6BAB1DE50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310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has four pages and each one answers a different question.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Page, one gives you the </a:t>
            </a:r>
            <a:r>
              <a:rPr lang="en-US" b="1" dirty="0"/>
              <a:t>big picture</a:t>
            </a:r>
            <a:r>
              <a:rPr lang="en-US" dirty="0"/>
              <a:t>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Page two answers — </a:t>
            </a:r>
            <a:r>
              <a:rPr lang="en-US" b="1" dirty="0"/>
              <a:t>are students coming back and finishing</a:t>
            </a:r>
            <a:r>
              <a:rPr lang="en-US" dirty="0"/>
              <a:t>?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Page three answers — </a:t>
            </a:r>
            <a:r>
              <a:rPr lang="en-US" b="1" dirty="0"/>
              <a:t>are all student groups being served equally</a:t>
            </a:r>
            <a:r>
              <a:rPr lang="en-US" dirty="0"/>
              <a:t>?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And page four answers — </a:t>
            </a:r>
            <a:r>
              <a:rPr lang="en-US" b="1" dirty="0"/>
              <a:t>who exactly are our students</a:t>
            </a:r>
            <a:r>
              <a:rPr lang="en-US" dirty="0"/>
              <a:t>?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Together these four pages tell one connected story. Let me walk you through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D28DE-1A3D-4FE6-B024-C6BAB1DE501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05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big picture.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University serves 16,810 students and 84% of them are undergraduates. Now the two numbers I want you to focus on are 74% and 51%.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74% is the percentage of full-time freshmen who came back for their second year. Sounds decent — until you know the national average is 81%. We are 7 points behind.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And 51% is the percentage of students who graduate within 6 years. The national average is 63%. We are 12 points behind that too.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These are not small gaps. These are hundreds of students every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D28DE-1A3D-4FE6-B024-C6BAB1DE501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084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page shows us who is staying and who is leaving. Full-time students return at 74% — that is manageable. But part-time students? Only 31% come back for year two.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That means nearly 7 out of 10 part-time students are gone before their second year. These are typically working adults, parents, people juggling jobs &amp; classes.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They are not leaving because they cannot do the work — they are leaving because life gets in the way.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line chart on the right shows graduation over time. Only 25% graduate in 4 years. But by year 6 that number doubles to 51%. So students are not failing — they just need more time and more support.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There is also a gender gap worth noting — women graduate at 59%, men at 46%. That is a 13-point difference that deserves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D28DE-1A3D-4FE6-B024-C6BAB1DE501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97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 in the entire presentation. When we say the university has a 53% graduation rate, that number is hiding a very uncomfortable truth. Look at this chart.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Depending on a student's background, their chance of graduating ranges from 29% all the way up to 80%. That is a 51-point spread — same university, completely different outcomes.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And look at the financials. Students who receive Pell grants — meaning the lowest income students — graduate at 44%. Students with no financial need graduate at 59%. That 15-point gap is not </a:t>
            </a:r>
            <a:br>
              <a:rPr lang="en-US" dirty="0"/>
            </a:br>
            <a:r>
              <a:rPr lang="en-US" dirty="0"/>
              <a:t>about ability it could be about money, stress, and academic barriers.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African American students make up 25% of enrollment but graduate at only 42%. We are enrolling these students and then not supporting them to the finish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D28DE-1A3D-4FE6-B024-C6BAB1DE501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39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page tells us who our students are.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90% of undergraduates are under 24 — traditional college-age students who respond well to in-person advising and peer support.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96% of first-time students come from in state. That is a strength because it shows deep community roots — but it is also a risk. If state's high school population declines, the university feels it directly.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On the online side, 41.8% of graduate students are already fully online. The infrastructure is there.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But only 8% of undergraduates are online, which means there is room to grow and reach students who cannot be on campus.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D28DE-1A3D-4FE6-B024-C6BAB1DE501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489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recommendation on this slide comes directly from the data. Not one of them is a guess.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Part-time retention is at 31% — so we need dedicated advising and flexible scheduling for those students.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Pell students graduate at 44% — so we need to expand emergency aid and financial counseling.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African American students graduate at 42% — so we need culturally responsive support programs and early alert systems to catch struggling students before they disappear.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Only 25% graduate in 4 years — so we need accelerated pathways and summer enrollment options.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And 96% of students are in-state — so we need to invest in online programs and out-of-state recruitment to protect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D28DE-1A3D-4FE6-B024-C6BAB1DE501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191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want to close with this quote — the value of a data culture is not in the charts; it is in what the charts make possible.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What this dashboard makes possible is early action. Instead of finding out at the end of the year that students left, we can identify at-risk students early, allocate resources where they are needed most, and report our progress to accreditors with confidence.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Every number you saw today is real, it is public, and it is actionable.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Thank you. I am happy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D28DE-1A3D-4FE6-B024-C6BAB1DE501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94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6D506-0364-FF46-EBF4-0F10A3C2B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33D654-6160-68A3-4A6C-82FDC47B2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1E4E3-1C3D-954C-10EA-0BC58393D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E7E71-EAAF-4F17-925E-884F242BCB0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621F7-8BA8-8FFB-7D02-53C072B2D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EEB23-37E8-7139-76E6-43193C8CE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64D44-69DD-4399-BCD1-071191FC3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05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8DFBE-0494-3235-C791-B961DC46D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7C789-D048-EED7-49BB-2AF038DCA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505D7-AA42-BA32-1598-00ADCCFFA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E7E71-EAAF-4F17-925E-884F242BCB0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35AE7-2FF4-601C-4640-7E6EE9309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D9FAA-3891-08F1-4556-A5371D91B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64D44-69DD-4399-BCD1-071191FC3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432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7F5C3-5DE2-5C76-F07B-D79DF1909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B3DC2-D658-7749-AE33-513F3CBB3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BBD5F-A226-2185-80F5-4B08CC18A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E7E71-EAAF-4F17-925E-884F242BCB0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B6D1-2DD2-0043-6A8F-036BD0968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C5CFE-3EA7-B928-E2FF-E49216A30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64D44-69DD-4399-BCD1-071191FC3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877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FB6D8-2B9E-2FE5-86E6-94825FC7E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DFED2-5654-5DF6-443D-CF4709475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AF047-DD6B-9DE4-0D05-09410510B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BF055-0499-B940-B46E-54AF47EEE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E7E71-EAAF-4F17-925E-884F242BCB0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A33AC-2652-ECAC-B870-AC08BD51A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E9208-7A4B-CBA4-DFAD-24105C36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64D44-69DD-4399-BCD1-071191FC3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025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92E39-0A73-3F7D-7FDD-B50DF3752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8FFEB-551E-998A-5762-DDE769F66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2848A-DB05-35F1-6774-0278EDB66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1F3ECC-86B8-0411-163C-F2729DE85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B04D65-8267-AD09-A6ED-083DD424E1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6AADFA-B299-D4E5-EE8B-9D7868F07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E7E71-EAAF-4F17-925E-884F242BCB0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B3E590-89AE-9E1C-8076-1900245EC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90ED32-C7EC-BA5F-CA4E-19CD6F968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64D44-69DD-4399-BCD1-071191FC3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70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871B4-D451-4794-0F32-7796A6A86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A0DF71-E1B1-C174-D4AF-0448BA5BE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E7E71-EAAF-4F17-925E-884F242BCB0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1D2225-35EC-AD64-D15A-7837C5D2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4FF48-2F9C-2864-7C56-C0B1A1D32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64D44-69DD-4399-BCD1-071191FC3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861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A1D275-B6F0-FD74-634C-E6E31B61B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E7E71-EAAF-4F17-925E-884F242BCB0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D7E25-0ABA-ED37-44E7-EE6415CC5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0BA93-25B5-2DEE-D167-4DC8FD9A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64D44-69DD-4399-BCD1-071191FC3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04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4E002-4511-27E9-4F7E-5E34DF733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4BA21-7E4B-58A2-7977-D90BFD32F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16ED26-D410-5A02-60A1-422F0B337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963A2-D6E5-3401-1DE5-BB1610299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E7E71-EAAF-4F17-925E-884F242BCB0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06DD7-9F05-3560-AF96-179CD8BE4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4E17B-71D2-1759-E8A7-ECD0D540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64D44-69DD-4399-BCD1-071191FC3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36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12684-BC11-13ED-DBE2-2090061A9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246E35-6169-C084-1AF1-854DA84C71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65274-BD02-FB9E-F48E-0070C571F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D6A2A-6F09-5039-FC2B-DEF79C56F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E7E71-EAAF-4F17-925E-884F242BCB0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52BBC-C25F-ADD7-102B-AFD2999DA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FEA6D-5FD1-CF14-8A52-0C3777616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64D44-69DD-4399-BCD1-071191FC3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39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7D665-3B6E-F24D-DD61-5ED94DFE3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6F7C43-411D-08C5-209A-FF24236BA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706A4-45CD-BBC5-80E3-3D80BC0F6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E7E71-EAAF-4F17-925E-884F242BCB0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8602A-55CD-25F8-1EA2-5C180FB32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9AD50-9852-7FB6-46A0-53411D7AB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64D44-69DD-4399-BCD1-071191FC3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45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0AD8B-41CD-C925-30A5-CA700467CF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473130-2AC5-D222-9B16-14ADCDA59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E9D93-B1A9-55D4-271D-0A04915AE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E7E71-EAAF-4F17-925E-884F242BCB0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6D41E-EAC6-3A7C-23D9-105CD6B42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ADC53-7654-5817-8D32-538ECB825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64D44-69DD-4399-BCD1-071191FC3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95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21FE10-88C8-BD07-8820-E19298E6B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8EE07-032E-D1ED-4287-FC5C1B023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FBC0-7124-C7B0-1A03-99FE0B8CC0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9E7E71-EAAF-4F17-925E-884F242BCB0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B0BB4-D3B7-F66B-1E85-B04F89D040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12A95-0435-83D7-504F-C5CE609D1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D64D44-69DD-4399-BCD1-071191FC3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31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2650A-0700-1CE8-5D50-CCBB44A469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575" y="433166"/>
            <a:ext cx="9144000" cy="1748059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4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Student Retention &amp; Graduation Equity in Higher Education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185AC7-45AB-6774-75D5-0FDB46B452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9575" y="2646020"/>
            <a:ext cx="9144000" cy="493153"/>
          </a:xfrm>
          <a:ln>
            <a:noFill/>
          </a:ln>
        </p:spPr>
        <p:txBody>
          <a:bodyPr/>
          <a:lstStyle/>
          <a:p>
            <a:pPr algn="l"/>
            <a:r>
              <a:rPr lang="en-US" dirty="0"/>
              <a:t>A Data-Driven Analysis Using IPEDS Data | Round 2 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A7004C-F01E-B9AD-E369-FB5C086551CC}"/>
              </a:ext>
            </a:extLst>
          </p:cNvPr>
          <p:cNvSpPr txBox="1"/>
          <p:nvPr/>
        </p:nvSpPr>
        <p:spPr>
          <a:xfrm>
            <a:off x="409575" y="3608046"/>
            <a:ext cx="154305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April 13,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59F24-526F-C3F5-E553-AA837B43ABF4}"/>
              </a:ext>
            </a:extLst>
          </p:cNvPr>
          <p:cNvSpPr txBox="1"/>
          <p:nvPr/>
        </p:nvSpPr>
        <p:spPr>
          <a:xfrm>
            <a:off x="409575" y="4446251"/>
            <a:ext cx="2514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Hemanth Kumar Konda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7D5AA6-E85D-A145-E8BA-68C8A17869A9}"/>
              </a:ext>
            </a:extLst>
          </p:cNvPr>
          <p:cNvSpPr txBox="1"/>
          <p:nvPr/>
        </p:nvSpPr>
        <p:spPr>
          <a:xfrm>
            <a:off x="409574" y="5284456"/>
            <a:ext cx="568642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Position Applied: </a:t>
            </a:r>
            <a:r>
              <a:rPr lang="en-US" u="sng" dirty="0"/>
              <a:t>Data Analyst &amp; Assessment Specialist</a:t>
            </a:r>
          </a:p>
        </p:txBody>
      </p:sp>
    </p:spTree>
    <p:extLst>
      <p:ext uri="{BB962C8B-B14F-4D97-AF65-F5344CB8AC3E}">
        <p14:creationId xmlns:p14="http://schemas.microsoft.com/office/powerpoint/2010/main" val="2133225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C26C9B9-1CD1-B36C-35D5-A4AC9C095750}"/>
              </a:ext>
            </a:extLst>
          </p:cNvPr>
          <p:cNvCxnSpPr/>
          <p:nvPr/>
        </p:nvCxnSpPr>
        <p:spPr>
          <a:xfrm>
            <a:off x="0" y="121337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078FB5-819C-6C80-2DAB-44D5071B18B4}"/>
              </a:ext>
            </a:extLst>
          </p:cNvPr>
          <p:cNvCxnSpPr/>
          <p:nvPr/>
        </p:nvCxnSpPr>
        <p:spPr>
          <a:xfrm>
            <a:off x="0" y="22288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A7C196D-5510-C687-DB64-F1B4E6FCC82F}"/>
              </a:ext>
            </a:extLst>
          </p:cNvPr>
          <p:cNvSpPr txBox="1"/>
          <p:nvPr/>
        </p:nvSpPr>
        <p:spPr>
          <a:xfrm>
            <a:off x="4981575" y="714376"/>
            <a:ext cx="2228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n w="0"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 Challenge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E8832E-4DA6-8DEB-121E-1D2AA78CE04A}"/>
              </a:ext>
            </a:extLst>
          </p:cNvPr>
          <p:cNvSpPr txBox="1"/>
          <p:nvPr/>
        </p:nvSpPr>
        <p:spPr>
          <a:xfrm>
            <a:off x="0" y="1520309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Student Retention &amp; Graduation Equity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31334B-A69A-A2A9-D4FE-7952ED847A8A}"/>
              </a:ext>
            </a:extLst>
          </p:cNvPr>
          <p:cNvSpPr txBox="1"/>
          <p:nvPr/>
        </p:nvSpPr>
        <p:spPr>
          <a:xfrm>
            <a:off x="459581" y="2828835"/>
            <a:ext cx="112728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education institutions nationally face declining retention and completion rates.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 who leave before graduating represent lost potential — for themselves and the institution.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Equity gaps in graduation outcomes indicate systemic barriers for specific student populations.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institutions that identify these gaps early can intervene proactively.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0D11F9-9384-436F-27D9-26C336187155}"/>
              </a:ext>
            </a:extLst>
          </p:cNvPr>
          <p:cNvSpPr txBox="1"/>
          <p:nvPr/>
        </p:nvSpPr>
        <p:spPr>
          <a:xfrm>
            <a:off x="459581" y="4737526"/>
            <a:ext cx="11272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 question is not whether gaps exist — it is whether we are measuring them clearly enough to act on them.</a:t>
            </a:r>
          </a:p>
        </p:txBody>
      </p:sp>
    </p:spTree>
    <p:extLst>
      <p:ext uri="{BB962C8B-B14F-4D97-AF65-F5344CB8AC3E}">
        <p14:creationId xmlns:p14="http://schemas.microsoft.com/office/powerpoint/2010/main" val="3867950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DE8634-EB53-EEE2-0EC3-15E9DEE09DC8}"/>
              </a:ext>
            </a:extLst>
          </p:cNvPr>
          <p:cNvSpPr txBox="1"/>
          <p:nvPr/>
        </p:nvSpPr>
        <p:spPr>
          <a:xfrm>
            <a:off x="3686175" y="409575"/>
            <a:ext cx="481965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How I Collected and Curated the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BD9452-663B-D318-9203-44DAB6A661F1}"/>
              </a:ext>
            </a:extLst>
          </p:cNvPr>
          <p:cNvSpPr txBox="1"/>
          <p:nvPr/>
        </p:nvSpPr>
        <p:spPr>
          <a:xfrm>
            <a:off x="271462" y="1027986"/>
            <a:ext cx="1164907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Data Source: 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IPEDS — Integrated Postsecondary Education Data System (U.S. Department of Education)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638DE9-5505-14BF-4F63-6A06177E080E}"/>
              </a:ext>
            </a:extLst>
          </p:cNvPr>
          <p:cNvSpPr txBox="1"/>
          <p:nvPr/>
        </p:nvSpPr>
        <p:spPr>
          <a:xfrm>
            <a:off x="271462" y="1613731"/>
            <a:ext cx="5824537" cy="235449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Datasets Used:</a:t>
            </a:r>
            <a:endParaRPr lang="en-US" sz="1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Fall 2024 Enrollment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— headcount by gender, race/ethnicity, age, distance education, residency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Spring 2024-25 Retention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— first-to-second year retention rates by enrollment intensity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Winter 2024-25 Graduation Rates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— by timeline, gender, race/ethnicity, and financial aid status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58CC69-1529-AB93-534C-ED04B5050024}"/>
              </a:ext>
            </a:extLst>
          </p:cNvPr>
          <p:cNvSpPr txBox="1"/>
          <p:nvPr/>
        </p:nvSpPr>
        <p:spPr>
          <a:xfrm>
            <a:off x="6095999" y="3937188"/>
            <a:ext cx="5824538" cy="1708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Data Cleaning Steps:</a:t>
            </a:r>
            <a:endParaRPr lang="en-US" sz="1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Extracted structured tables from raw IPEDS flat files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Removed metadata rows and standardized column headers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Calculated estimated counts from percentage fields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Structured into 6 fact tables for Power BI modeling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435049-EF40-8580-AC51-627BA2332BCA}"/>
              </a:ext>
            </a:extLst>
          </p:cNvPr>
          <p:cNvSpPr txBox="1"/>
          <p:nvPr/>
        </p:nvSpPr>
        <p:spPr>
          <a:xfrm>
            <a:off x="271462" y="5645348"/>
            <a:ext cx="28098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Sans-serif"/>
              </a:rPr>
              <a:t>Tool:</a:t>
            </a:r>
            <a:r>
              <a:rPr lang="en-US" sz="1400" dirty="0">
                <a:latin typeface="Sans-serif"/>
              </a:rPr>
              <a:t> Power BI Desktop</a:t>
            </a:r>
          </a:p>
        </p:txBody>
      </p:sp>
    </p:spTree>
    <p:extLst>
      <p:ext uri="{BB962C8B-B14F-4D97-AF65-F5344CB8AC3E}">
        <p14:creationId xmlns:p14="http://schemas.microsoft.com/office/powerpoint/2010/main" val="3169260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8237B0-2318-EBD3-92A9-CDAD3A0538CD}"/>
              </a:ext>
            </a:extLst>
          </p:cNvPr>
          <p:cNvSpPr txBox="1"/>
          <p:nvPr/>
        </p:nvSpPr>
        <p:spPr>
          <a:xfrm>
            <a:off x="3148012" y="390525"/>
            <a:ext cx="5895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 Dashboard — 4 Pages, One Story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6D8182-C31D-0BC1-F3EF-F41413FEA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756188"/>
              </p:ext>
            </p:extLst>
          </p:nvPr>
        </p:nvGraphicFramePr>
        <p:xfrm>
          <a:off x="180976" y="952500"/>
          <a:ext cx="11801475" cy="17832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33825">
                  <a:extLst>
                    <a:ext uri="{9D8B030D-6E8A-4147-A177-3AD203B41FA5}">
                      <a16:colId xmlns:a16="http://schemas.microsoft.com/office/drawing/2014/main" val="2327446838"/>
                    </a:ext>
                  </a:extLst>
                </a:gridCol>
                <a:gridCol w="3933825">
                  <a:extLst>
                    <a:ext uri="{9D8B030D-6E8A-4147-A177-3AD203B41FA5}">
                      <a16:colId xmlns:a16="http://schemas.microsoft.com/office/drawing/2014/main" val="4209713895"/>
                    </a:ext>
                  </a:extLst>
                </a:gridCol>
                <a:gridCol w="3933825">
                  <a:extLst>
                    <a:ext uri="{9D8B030D-6E8A-4147-A177-3AD203B41FA5}">
                      <a16:colId xmlns:a16="http://schemas.microsoft.com/office/drawing/2014/main" val="1480886462"/>
                    </a:ext>
                  </a:extLst>
                </a:gridCol>
              </a:tblGrid>
              <a:tr h="3751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/>
                        <a:t>Pages </a:t>
                      </a:r>
                      <a:endParaRPr lang="en-US" sz="1200" b="1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/>
                        <a:t>Title</a:t>
                      </a:r>
                      <a:endParaRPr lang="en-US" sz="1200" b="1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1" dirty="0"/>
                        <a:t>What It Answers</a:t>
                      </a:r>
                      <a:endParaRPr lang="en-US" sz="1200" b="1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7577951"/>
                  </a:ext>
                </a:extLst>
              </a:tr>
              <a:tr h="35203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/>
                        <a:t>Page 1</a:t>
                      </a:r>
                      <a:endParaRPr lang="en-US" sz="12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/>
                        <a:t>Executive Overview</a:t>
                      </a:r>
                      <a:endParaRPr lang="en-US" sz="12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/>
                        <a:t>How is university performing overall?</a:t>
                      </a:r>
                      <a:endParaRPr lang="en-US" sz="12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0835348"/>
                  </a:ext>
                </a:extLst>
              </a:tr>
              <a:tr h="35203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/>
                        <a:t>Page 2</a:t>
                      </a:r>
                      <a:endParaRPr lang="en-US" sz="12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/>
                        <a:t>Retention &amp; Completion</a:t>
                      </a:r>
                      <a:endParaRPr lang="en-US" sz="12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/>
                        <a:t>Are students persisting and graduating?</a:t>
                      </a:r>
                      <a:endParaRPr lang="en-US" sz="12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8049059"/>
                  </a:ext>
                </a:extLst>
              </a:tr>
              <a:tr h="35203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/>
                        <a:t>Page 3</a:t>
                      </a:r>
                      <a:endParaRPr lang="en-US" sz="12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/>
                        <a:t>Equity &amp; Outcomes</a:t>
                      </a:r>
                      <a:endParaRPr lang="en-US" sz="12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/>
                        <a:t>Are all student groups succeeding equally?</a:t>
                      </a:r>
                      <a:endParaRPr lang="en-US" sz="12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3785682"/>
                  </a:ext>
                </a:extLst>
              </a:tr>
              <a:tr h="35203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/>
                        <a:t>Page 4</a:t>
                      </a:r>
                      <a:endParaRPr lang="en-US" sz="12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/>
                        <a:t>Enrollment Profile</a:t>
                      </a:r>
                      <a:endParaRPr lang="en-US" sz="12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/>
                        <a:t>Who are our students and how are they learning?</a:t>
                      </a:r>
                      <a:endParaRPr lang="en-US" sz="1200" dirty="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35468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311670D-FDC8-6C5C-DB9B-B88BF9D2BFEC}"/>
              </a:ext>
            </a:extLst>
          </p:cNvPr>
          <p:cNvSpPr txBox="1"/>
          <p:nvPr/>
        </p:nvSpPr>
        <p:spPr>
          <a:xfrm>
            <a:off x="1964341" y="3244334"/>
            <a:ext cx="846133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Built in Power BI Desktop using IPEDS data — all visuals are live and interactive</a:t>
            </a:r>
          </a:p>
        </p:txBody>
      </p:sp>
      <p:pic>
        <p:nvPicPr>
          <p:cNvPr id="16" name="Picture 15" descr="A close-up of a graph&#10;&#10;AI-generated content may be incorrect.">
            <a:extLst>
              <a:ext uri="{FF2B5EF4-FFF2-40B4-BE49-F238E27FC236}">
                <a16:creationId xmlns:a16="http://schemas.microsoft.com/office/drawing/2014/main" id="{AE068E8C-1FA0-4C45-DFFA-F2CC1C429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29488" y="3514352"/>
            <a:ext cx="2240517" cy="2899493"/>
          </a:xfrm>
          <a:prstGeom prst="rect">
            <a:avLst/>
          </a:prstGeom>
        </p:spPr>
      </p:pic>
      <p:pic>
        <p:nvPicPr>
          <p:cNvPr id="18" name="Picture 17" descr="A close-up of a graph&#10;&#10;AI-generated content may be incorrect.">
            <a:extLst>
              <a:ext uri="{FF2B5EF4-FFF2-40B4-BE49-F238E27FC236}">
                <a16:creationId xmlns:a16="http://schemas.microsoft.com/office/drawing/2014/main" id="{9A3072D8-A86A-56BB-1FCF-EFF50124C1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426991" y="3514351"/>
            <a:ext cx="2240517" cy="2899494"/>
          </a:xfrm>
          <a:prstGeom prst="rect">
            <a:avLst/>
          </a:prstGeom>
        </p:spPr>
      </p:pic>
      <p:pic>
        <p:nvPicPr>
          <p:cNvPr id="20" name="Picture 19" descr="Several blue bars with text&#10;&#10;AI-generated content may be incorrect.">
            <a:extLst>
              <a:ext uri="{FF2B5EF4-FFF2-40B4-BE49-F238E27FC236}">
                <a16:creationId xmlns:a16="http://schemas.microsoft.com/office/drawing/2014/main" id="{EFF5801D-3CD4-7198-5B66-494DB7DBDE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524494" y="3514352"/>
            <a:ext cx="2240519" cy="2899493"/>
          </a:xfrm>
          <a:prstGeom prst="rect">
            <a:avLst/>
          </a:prstGeom>
        </p:spPr>
      </p:pic>
      <p:pic>
        <p:nvPicPr>
          <p:cNvPr id="22" name="Picture 21" descr="A close-up of several graphs&#10;&#10;AI-generated content may be incorrect.">
            <a:extLst>
              <a:ext uri="{FF2B5EF4-FFF2-40B4-BE49-F238E27FC236}">
                <a16:creationId xmlns:a16="http://schemas.microsoft.com/office/drawing/2014/main" id="{D033D801-7D89-DD13-ACA0-9F9A1ADF1D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621997" y="3514350"/>
            <a:ext cx="2240519" cy="289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800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827136-63D1-FDDA-A57B-DAD4D36689C5}"/>
              </a:ext>
            </a:extLst>
          </p:cNvPr>
          <p:cNvSpPr txBox="1"/>
          <p:nvPr/>
        </p:nvSpPr>
        <p:spPr>
          <a:xfrm>
            <a:off x="266701" y="320159"/>
            <a:ext cx="11515724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4000" i="0" u="none" strike="noStrike" baseline="0" dirty="0">
                <a:solidFill>
                  <a:srgbClr val="0B0B0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16,810 students, one shared goal:</a:t>
            </a:r>
          </a:p>
          <a:p>
            <a:pPr algn="l"/>
            <a:r>
              <a:rPr lang="en-US" sz="4000" i="0" u="none" strike="noStrike" baseline="0" dirty="0">
                <a:solidFill>
                  <a:srgbClr val="0B0B0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graduation</a:t>
            </a:r>
            <a:endParaRPr lang="en-US" sz="4000" b="1" dirty="0">
              <a:latin typeface="Courier New" panose="02070309020205020404" pitchFamily="49" charset="0"/>
              <a:ea typeface="Sans Serif Collection" panose="020B0502040504020204" pitchFamily="34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3DF384-F271-7DF6-419F-E86ADDCA97FB}"/>
              </a:ext>
            </a:extLst>
          </p:cNvPr>
          <p:cNvSpPr txBox="1"/>
          <p:nvPr/>
        </p:nvSpPr>
        <p:spPr>
          <a:xfrm>
            <a:off x="9124951" y="4791075"/>
            <a:ext cx="167640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51%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08E6F0-26F2-0111-CDF2-642866C24658}"/>
              </a:ext>
            </a:extLst>
          </p:cNvPr>
          <p:cNvSpPr txBox="1"/>
          <p:nvPr/>
        </p:nvSpPr>
        <p:spPr>
          <a:xfrm>
            <a:off x="6181726" y="4791075"/>
            <a:ext cx="167640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74%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AE902D-4802-6FFC-2775-31371C3DE276}"/>
              </a:ext>
            </a:extLst>
          </p:cNvPr>
          <p:cNvSpPr txBox="1"/>
          <p:nvPr/>
        </p:nvSpPr>
        <p:spPr>
          <a:xfrm>
            <a:off x="3238501" y="4791075"/>
            <a:ext cx="167640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02CAF3-142E-38B7-309D-AC864A624B64}"/>
              </a:ext>
            </a:extLst>
          </p:cNvPr>
          <p:cNvSpPr txBox="1"/>
          <p:nvPr/>
        </p:nvSpPr>
        <p:spPr>
          <a:xfrm>
            <a:off x="295276" y="4791075"/>
            <a:ext cx="167640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i="0" u="none" strike="noStrike" baseline="0" dirty="0">
                <a:solidFill>
                  <a:srgbClr val="0B0B0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16,810</a:t>
            </a:r>
            <a:endParaRPr lang="en-US" sz="3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FE0882-8A74-22D2-1798-57C054BC4B58}"/>
              </a:ext>
            </a:extLst>
          </p:cNvPr>
          <p:cNvSpPr txBox="1"/>
          <p:nvPr/>
        </p:nvSpPr>
        <p:spPr>
          <a:xfrm>
            <a:off x="295276" y="3253856"/>
            <a:ext cx="2600323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b="0" i="0" u="none" strike="noStrike" baseline="0" dirty="0">
                <a:solidFill>
                  <a:srgbClr val="27272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 students enrolled. Graduate and</a:t>
            </a:r>
          </a:p>
          <a:p>
            <a:r>
              <a:rPr lang="en-US" sz="1400" b="0" i="0" u="none" strike="noStrike" baseline="0" dirty="0">
                <a:solidFill>
                  <a:srgbClr val="27272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undergraduate populations combined.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64E376-A1E9-31B8-276C-FFA92BE71983}"/>
              </a:ext>
            </a:extLst>
          </p:cNvPr>
          <p:cNvSpPr txBox="1"/>
          <p:nvPr/>
        </p:nvSpPr>
        <p:spPr>
          <a:xfrm>
            <a:off x="3238501" y="3253857"/>
            <a:ext cx="2600323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b="0" i="0" u="none" strike="noStrike" baseline="0" dirty="0">
                <a:solidFill>
                  <a:srgbClr val="27272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Undergraduate </a:t>
            </a:r>
            <a:r>
              <a:rPr lang="en-US" sz="1400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share. Predominantly</a:t>
            </a:r>
          </a:p>
          <a:p>
            <a:pPr algn="l"/>
            <a:r>
              <a:rPr lang="en-US" sz="1400" b="0" i="0" u="none" strike="noStrike" baseline="0" dirty="0">
                <a:solidFill>
                  <a:srgbClr val="27272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undergrad institution with a strong</a:t>
            </a:r>
          </a:p>
          <a:p>
            <a:pPr algn="l"/>
            <a:r>
              <a:rPr lang="en-US" sz="1400" b="0" i="0" u="none" strike="noStrike" baseline="0" dirty="0">
                <a:solidFill>
                  <a:srgbClr val="27272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community pipeline.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9F448A-E84E-5EEE-228B-70D80F30E5A1}"/>
              </a:ext>
            </a:extLst>
          </p:cNvPr>
          <p:cNvSpPr txBox="1"/>
          <p:nvPr/>
        </p:nvSpPr>
        <p:spPr>
          <a:xfrm>
            <a:off x="6181726" y="2822968"/>
            <a:ext cx="2600323" cy="18158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First-year full-time retention vs.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81%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national average.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Seven points below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benchmark but reflects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strong initial student commitment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 year one.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6CE9C8-70E0-4434-7D41-71B2DA1FA06A}"/>
              </a:ext>
            </a:extLst>
          </p:cNvPr>
          <p:cNvSpPr txBox="1"/>
          <p:nvPr/>
        </p:nvSpPr>
        <p:spPr>
          <a:xfrm>
            <a:off x="9124951" y="3146133"/>
            <a:ext cx="2600323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b="0" i="0" u="none" strike="noStrike" baseline="0" dirty="0">
                <a:solidFill>
                  <a:srgbClr val="27272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Graduation rate vs. </a:t>
            </a:r>
            <a:r>
              <a:rPr lang="en-US" sz="1400" b="1" i="0" u="none" strike="noStrike" baseline="0" dirty="0">
                <a:solidFill>
                  <a:srgbClr val="27272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63%</a:t>
            </a:r>
            <a:r>
              <a:rPr lang="en-US" sz="1400" b="0" i="0" u="none" strike="noStrike" baseline="0" dirty="0">
                <a:solidFill>
                  <a:srgbClr val="27272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national</a:t>
            </a:r>
          </a:p>
          <a:p>
            <a:pPr algn="l"/>
            <a:r>
              <a:rPr lang="en-US" sz="1400" b="0" i="0" u="none" strike="noStrike" baseline="0" dirty="0">
                <a:solidFill>
                  <a:srgbClr val="27272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benchmark. </a:t>
            </a:r>
            <a:r>
              <a:rPr lang="en-US" sz="1400" b="1" i="0" u="none" strike="noStrike" baseline="0" dirty="0">
                <a:solidFill>
                  <a:srgbClr val="27272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Twelve points below</a:t>
            </a:r>
            <a:r>
              <a:rPr lang="en-US" sz="1400" b="0" i="0" u="none" strike="noStrike" baseline="0" dirty="0">
                <a:solidFill>
                  <a:srgbClr val="27272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the</a:t>
            </a:r>
          </a:p>
          <a:p>
            <a:pPr algn="l"/>
            <a:r>
              <a:rPr lang="en-US" sz="1400" b="0" i="0" u="none" strike="noStrike" baseline="0" dirty="0">
                <a:solidFill>
                  <a:srgbClr val="27272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national standard.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066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152136-F55B-7318-D111-902B5593AAC1}"/>
              </a:ext>
            </a:extLst>
          </p:cNvPr>
          <p:cNvSpPr txBox="1"/>
          <p:nvPr/>
        </p:nvSpPr>
        <p:spPr>
          <a:xfrm>
            <a:off x="209549" y="257174"/>
            <a:ext cx="4200525" cy="12464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250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Retention is strong —</a:t>
            </a:r>
          </a:p>
          <a:p>
            <a:pPr algn="l"/>
            <a:r>
              <a:rPr lang="en-US" sz="250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graduation is where we lose students</a:t>
            </a:r>
            <a:endParaRPr lang="en-US" sz="2500" dirty="0">
              <a:latin typeface="Courier New" panose="02070309020205020404" pitchFamily="49" charset="0"/>
              <a:ea typeface="ADLaM Display" panose="020F0502020204030204" pitchFamily="2" charset="0"/>
              <a:cs typeface="Courier New" panose="02070309020205020404" pitchFamily="49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3D73F47-E701-91B8-27E4-C45CFDD9E4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654063"/>
              </p:ext>
            </p:extLst>
          </p:nvPr>
        </p:nvGraphicFramePr>
        <p:xfrm>
          <a:off x="4614862" y="3429000"/>
          <a:ext cx="3297104" cy="3128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A108CE95-AC9E-58B9-630F-40528D204F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0635231"/>
              </p:ext>
            </p:extLst>
          </p:nvPr>
        </p:nvGraphicFramePr>
        <p:xfrm>
          <a:off x="8435974" y="3429000"/>
          <a:ext cx="2962276" cy="3128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7EC78730-9710-42F5-7B8F-1C2CE8A2AC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427009"/>
              </p:ext>
            </p:extLst>
          </p:nvPr>
        </p:nvGraphicFramePr>
        <p:xfrm>
          <a:off x="8553565" y="3428999"/>
          <a:ext cx="3297103" cy="3128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E2370728-77F2-282F-3E88-E3D067C3BDE7}"/>
              </a:ext>
            </a:extLst>
          </p:cNvPr>
          <p:cNvSpPr txBox="1"/>
          <p:nvPr/>
        </p:nvSpPr>
        <p:spPr>
          <a:xfrm>
            <a:off x="4877899" y="300567"/>
            <a:ext cx="32971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First to Second Year Retention Rate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BC1D4B-0293-3DEE-332D-DAC039029C76}"/>
              </a:ext>
            </a:extLst>
          </p:cNvPr>
          <p:cNvSpPr txBox="1"/>
          <p:nvPr/>
        </p:nvSpPr>
        <p:spPr>
          <a:xfrm>
            <a:off x="8699012" y="300567"/>
            <a:ext cx="2922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u="none" strike="noStrike" baseline="0" dirty="0">
                <a:solidFill>
                  <a:srgbClr val="27272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Graduation rate over time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0B174F-5C17-8034-91B2-AE4B82C213C8}"/>
              </a:ext>
            </a:extLst>
          </p:cNvPr>
          <p:cNvSpPr txBox="1"/>
          <p:nvPr/>
        </p:nvSpPr>
        <p:spPr>
          <a:xfrm>
            <a:off x="209549" y="5098862"/>
            <a:ext cx="3881305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b="0" i="0" u="none" strike="noStrike" baseline="0" dirty="0">
                <a:solidFill>
                  <a:srgbClr val="27272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Part-time students face the steepest barriers — jobs, families, financial pressure. On-time graduation remains rare across all groups.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D5D19E-8877-7AA5-66B2-16550A45DDD0}"/>
              </a:ext>
            </a:extLst>
          </p:cNvPr>
          <p:cNvSpPr txBox="1"/>
          <p:nvPr/>
        </p:nvSpPr>
        <p:spPr>
          <a:xfrm>
            <a:off x="209549" y="2982620"/>
            <a:ext cx="3881305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59%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– Women’s graduation rate vs.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46%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for men.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+13 percentage point gap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indicating a significant gender disparity in completion outcomes.</a:t>
            </a:r>
          </a:p>
        </p:txBody>
      </p:sp>
    </p:spTree>
    <p:extLst>
      <p:ext uri="{BB962C8B-B14F-4D97-AF65-F5344CB8AC3E}">
        <p14:creationId xmlns:p14="http://schemas.microsoft.com/office/powerpoint/2010/main" val="533640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DDECC3E-6BEC-5288-85B1-147541CA20CD}"/>
              </a:ext>
            </a:extLst>
          </p:cNvPr>
          <p:cNvSpPr/>
          <p:nvPr/>
        </p:nvSpPr>
        <p:spPr>
          <a:xfrm>
            <a:off x="0" y="0"/>
            <a:ext cx="4953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EC8907-2664-DD2C-238A-0C423B3FF3C0}"/>
              </a:ext>
            </a:extLst>
          </p:cNvPr>
          <p:cNvSpPr txBox="1"/>
          <p:nvPr/>
        </p:nvSpPr>
        <p:spPr>
          <a:xfrm>
            <a:off x="376235" y="466754"/>
            <a:ext cx="420052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Equity -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Not All Students Experience Equal Success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D3BC5AA4-C97B-6E0F-9545-E7B85B544F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5066718"/>
              </p:ext>
            </p:extLst>
          </p:nvPr>
        </p:nvGraphicFramePr>
        <p:xfrm>
          <a:off x="5353049" y="1082307"/>
          <a:ext cx="6619875" cy="55089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945814B-E372-829E-8AB4-F33EE4528E45}"/>
              </a:ext>
            </a:extLst>
          </p:cNvPr>
          <p:cNvSpPr txBox="1"/>
          <p:nvPr/>
        </p:nvSpPr>
        <p:spPr>
          <a:xfrm>
            <a:off x="5329237" y="266700"/>
            <a:ext cx="6486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i="0" u="none" strike="noStrike" baseline="0" dirty="0">
                <a:solidFill>
                  <a:srgbClr val="27272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Pell Grant recipients graduate at </a:t>
            </a:r>
            <a:r>
              <a:rPr lang="en-US" sz="1400" b="1" i="0" u="none" strike="noStrike" baseline="0" dirty="0">
                <a:solidFill>
                  <a:srgbClr val="27272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44%</a:t>
            </a:r>
            <a:r>
              <a:rPr lang="en-US" sz="1400" b="0" i="0" u="none" strike="noStrike" baseline="0" dirty="0">
                <a:solidFill>
                  <a:srgbClr val="27272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— 15 points below non-Pell students (59%)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419FEE-25D1-7B33-8A74-92714DA07B18}"/>
              </a:ext>
            </a:extLst>
          </p:cNvPr>
          <p:cNvSpPr txBox="1"/>
          <p:nvPr/>
        </p:nvSpPr>
        <p:spPr>
          <a:xfrm>
            <a:off x="376235" y="1657350"/>
            <a:ext cx="42005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i="0" u="none" strike="noStrike" baseline="0" dirty="0">
                <a:solidFill>
                  <a:srgbClr val="15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51-point gap separates our</a:t>
            </a:r>
          </a:p>
          <a:p>
            <a:pPr algn="l"/>
            <a:r>
              <a:rPr lang="en-US" sz="1400" b="0" i="0" u="none" strike="noStrike" baseline="0" dirty="0">
                <a:solidFill>
                  <a:srgbClr val="15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highest and lowest graduating</a:t>
            </a:r>
          </a:p>
          <a:p>
            <a:pPr algn="l"/>
            <a:r>
              <a:rPr lang="en-US" sz="1400" b="0" i="0" u="none" strike="noStrike" baseline="0" dirty="0">
                <a:solidFill>
                  <a:srgbClr val="15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groups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B7EA24-ECFD-8FA6-5535-62178938F537}"/>
              </a:ext>
            </a:extLst>
          </p:cNvPr>
          <p:cNvSpPr txBox="1"/>
          <p:nvPr/>
        </p:nvSpPr>
        <p:spPr>
          <a:xfrm>
            <a:off x="376236" y="4765328"/>
            <a:ext cx="42005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African American students make up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24.9% of enrollment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but graduate at just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42%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 points below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the institutional average—clearly highlighting where additional support is needed.</a:t>
            </a:r>
          </a:p>
        </p:txBody>
      </p:sp>
    </p:spTree>
    <p:extLst>
      <p:ext uri="{BB962C8B-B14F-4D97-AF65-F5344CB8AC3E}">
        <p14:creationId xmlns:p14="http://schemas.microsoft.com/office/powerpoint/2010/main" val="3515217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2A5E53-D438-17BC-0243-4B523EC3881A}"/>
              </a:ext>
            </a:extLst>
          </p:cNvPr>
          <p:cNvSpPr txBox="1"/>
          <p:nvPr/>
        </p:nvSpPr>
        <p:spPr>
          <a:xfrm>
            <a:off x="381000" y="333375"/>
            <a:ext cx="5715000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Student Profile -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Most students are young, local, and reachable.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4E4E73-BF23-0055-DF3C-576434375521}"/>
              </a:ext>
            </a:extLst>
          </p:cNvPr>
          <p:cNvSpPr/>
          <p:nvPr/>
        </p:nvSpPr>
        <p:spPr>
          <a:xfrm>
            <a:off x="7496175" y="733485"/>
            <a:ext cx="4314825" cy="16953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04C1E3-1CB2-C486-D4BD-5E1E0E4A04B1}"/>
              </a:ext>
            </a:extLst>
          </p:cNvPr>
          <p:cNvSpPr/>
          <p:nvPr/>
        </p:nvSpPr>
        <p:spPr>
          <a:xfrm>
            <a:off x="7496175" y="2733736"/>
            <a:ext cx="4314825" cy="16953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B4CDFCA-A540-8419-3BEF-A95BCE9AAE4D}"/>
              </a:ext>
            </a:extLst>
          </p:cNvPr>
          <p:cNvSpPr/>
          <p:nvPr/>
        </p:nvSpPr>
        <p:spPr>
          <a:xfrm>
            <a:off x="7496175" y="4733987"/>
            <a:ext cx="4314825" cy="16953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A4F8A-B45A-EE4F-5259-53921872569C}"/>
              </a:ext>
            </a:extLst>
          </p:cNvPr>
          <p:cNvSpPr txBox="1"/>
          <p:nvPr/>
        </p:nvSpPr>
        <p:spPr>
          <a:xfrm>
            <a:off x="7848600" y="904875"/>
            <a:ext cx="1171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90.1%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F5071F-E801-207A-A9AD-159DC3C6AF76}"/>
              </a:ext>
            </a:extLst>
          </p:cNvPr>
          <p:cNvSpPr txBox="1"/>
          <p:nvPr/>
        </p:nvSpPr>
        <p:spPr>
          <a:xfrm>
            <a:off x="7715250" y="1762186"/>
            <a:ext cx="3971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0" i="0" u="none" strike="noStrike" baseline="0" dirty="0">
                <a:solidFill>
                  <a:srgbClr val="27272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Traditional-age undergrads (under 24). Respond well to in-person advising, peer mentoring, and early-alert outreach.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444231-B5FF-8299-D7A8-63620304014C}"/>
              </a:ext>
            </a:extLst>
          </p:cNvPr>
          <p:cNvSpPr txBox="1"/>
          <p:nvPr/>
        </p:nvSpPr>
        <p:spPr>
          <a:xfrm>
            <a:off x="400046" y="2119640"/>
            <a:ext cx="5695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75%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of graduate students are over 25.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AE788F-06F6-6887-40E4-09C1C51B336A}"/>
              </a:ext>
            </a:extLst>
          </p:cNvPr>
          <p:cNvSpPr txBox="1"/>
          <p:nvPr/>
        </p:nvSpPr>
        <p:spPr>
          <a:xfrm>
            <a:off x="7848597" y="2853242"/>
            <a:ext cx="1171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96%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C52912-2491-63A6-9699-55B3F551EBB8}"/>
              </a:ext>
            </a:extLst>
          </p:cNvPr>
          <p:cNvSpPr txBox="1"/>
          <p:nvPr/>
        </p:nvSpPr>
        <p:spPr>
          <a:xfrm>
            <a:off x="7715250" y="3773925"/>
            <a:ext cx="3971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0" i="0" u="none" strike="noStrike" baseline="0" dirty="0">
                <a:solidFill>
                  <a:srgbClr val="27272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In-state first-time students. Strong local ties — our outcomes directly shape regional workforce readiness.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214AA9-9F42-7265-01C1-17F212F2B9CA}"/>
              </a:ext>
            </a:extLst>
          </p:cNvPr>
          <p:cNvSpPr txBox="1"/>
          <p:nvPr/>
        </p:nvSpPr>
        <p:spPr>
          <a:xfrm>
            <a:off x="7848598" y="4907995"/>
            <a:ext cx="1171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41.8%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A38B4E-F0DD-EE68-097F-FFD681E0D020}"/>
              </a:ext>
            </a:extLst>
          </p:cNvPr>
          <p:cNvSpPr txBox="1"/>
          <p:nvPr/>
        </p:nvSpPr>
        <p:spPr>
          <a:xfrm>
            <a:off x="7715250" y="5783046"/>
            <a:ext cx="3971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Graduate students fully online — indicating strong demand for flexible, remote learning options.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B39D69-ABB5-AFF7-2753-A21FDFF1E9E7}"/>
              </a:ext>
            </a:extLst>
          </p:cNvPr>
          <p:cNvSpPr txBox="1"/>
          <p:nvPr/>
        </p:nvSpPr>
        <p:spPr>
          <a:xfrm>
            <a:off x="400046" y="3581431"/>
            <a:ext cx="56959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3.1%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out-of-state and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0.5%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international students, indicating limited geographic diversity beyond the local region.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F47B61-0C0E-C154-C2DF-3D3021F65D29}"/>
              </a:ext>
            </a:extLst>
          </p:cNvPr>
          <p:cNvSpPr txBox="1"/>
          <p:nvPr/>
        </p:nvSpPr>
        <p:spPr>
          <a:xfrm>
            <a:off x="400046" y="5690713"/>
            <a:ext cx="56959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8.1%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of undergraduates are fully online, showing most still prefer in-person or hybrid learning environments.</a:t>
            </a:r>
          </a:p>
        </p:txBody>
      </p:sp>
    </p:spTree>
    <p:extLst>
      <p:ext uri="{BB962C8B-B14F-4D97-AF65-F5344CB8AC3E}">
        <p14:creationId xmlns:p14="http://schemas.microsoft.com/office/powerpoint/2010/main" val="2364115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E4D923-EF30-85A9-4AF1-C772B0839BE4}"/>
              </a:ext>
            </a:extLst>
          </p:cNvPr>
          <p:cNvSpPr txBox="1"/>
          <p:nvPr/>
        </p:nvSpPr>
        <p:spPr>
          <a:xfrm>
            <a:off x="434109" y="350981"/>
            <a:ext cx="2419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Recommendation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034CAE-7B03-620D-943F-C0A45A64E01B}"/>
              </a:ext>
            </a:extLst>
          </p:cNvPr>
          <p:cNvSpPr txBox="1"/>
          <p:nvPr/>
        </p:nvSpPr>
        <p:spPr>
          <a:xfrm>
            <a:off x="434110" y="951346"/>
            <a:ext cx="92723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0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Five targeted actions to close the gap</a:t>
            </a:r>
            <a:endParaRPr lang="en-US" sz="3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3C00C2-9268-363B-3294-0496237DB8E3}"/>
              </a:ext>
            </a:extLst>
          </p:cNvPr>
          <p:cNvCxnSpPr>
            <a:cxnSpLocks/>
          </p:cNvCxnSpPr>
          <p:nvPr/>
        </p:nvCxnSpPr>
        <p:spPr>
          <a:xfrm>
            <a:off x="0" y="1708355"/>
            <a:ext cx="121920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0BB07C-B0BD-2ED2-1D3F-13CE24F49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855873"/>
              </p:ext>
            </p:extLst>
          </p:nvPr>
        </p:nvGraphicFramePr>
        <p:xfrm>
          <a:off x="0" y="1705599"/>
          <a:ext cx="12192000" cy="51523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2864216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66429898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92091981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16588406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738042049"/>
                    </a:ext>
                  </a:extLst>
                </a:gridCol>
              </a:tblGrid>
              <a:tr h="171746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31% part-time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44% Pell grad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42% AA grad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25% 4-year grad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96% in-state dependency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069910"/>
                  </a:ext>
                </a:extLst>
              </a:tr>
              <a:tr h="171746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Dedicated part-time advising + flexible scheduling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Expand emergency aid fund + financial counseling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Culturally responsive advising + early alert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Accelerated pathways + summer enrollment incentives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Invest in online program expansion + out-of-state recruitment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7948994"/>
                  </a:ext>
                </a:extLst>
              </a:tr>
              <a:tr h="171746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Increase PT retention toward 50%+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Close 15-pt financial aid 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Address 11-pt equity 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Reduce time-to-degree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Diversify enrollment pipeline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843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4617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CA181F-EF06-AD59-249F-930D8DA6A5F8}"/>
              </a:ext>
            </a:extLst>
          </p:cNvPr>
          <p:cNvSpPr txBox="1"/>
          <p:nvPr/>
        </p:nvSpPr>
        <p:spPr>
          <a:xfrm>
            <a:off x="313507" y="576463"/>
            <a:ext cx="115649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1" dirty="0">
                <a:solidFill>
                  <a:schemeClr val="accent6">
                    <a:lumMod val="5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"The value of a data culture is not in the charts — it is in what the charts make possible."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61EE7-DDEC-2900-D055-157F403C1958}"/>
              </a:ext>
            </a:extLst>
          </p:cNvPr>
          <p:cNvSpPr txBox="1"/>
          <p:nvPr/>
        </p:nvSpPr>
        <p:spPr>
          <a:xfrm>
            <a:off x="313508" y="1532708"/>
            <a:ext cx="11564982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What this dashboard enables: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Real-time monitoring of retention and graduation trends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Early identification of at-risk student populations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Evidence-based budget and resource allocation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Accountability reporting to accreditors and state agencies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Year-over-year benchmarking against national peers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43E309-6D81-CA16-0FB6-44C572B966A5}"/>
              </a:ext>
            </a:extLst>
          </p:cNvPr>
          <p:cNvSpPr txBox="1"/>
          <p:nvPr/>
        </p:nvSpPr>
        <p:spPr>
          <a:xfrm>
            <a:off x="313507" y="4561835"/>
            <a:ext cx="11625943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Data Source: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IPEDS — U.S. Department of Education</a:t>
            </a:r>
            <a:b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Tool: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Power BI Desktop </a:t>
            </a:r>
            <a:b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Cohorts: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Fall 2024 Enrollment | Fall 2023 Retention | 2016 &amp; 2018 Graduation Cohorts</a:t>
            </a:r>
          </a:p>
        </p:txBody>
      </p:sp>
    </p:spTree>
    <p:extLst>
      <p:ext uri="{BB962C8B-B14F-4D97-AF65-F5344CB8AC3E}">
        <p14:creationId xmlns:p14="http://schemas.microsoft.com/office/powerpoint/2010/main" val="2497456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2928</TotalTime>
  <Words>2018</Words>
  <Application>Microsoft Office PowerPoint</Application>
  <PresentationFormat>Widescreen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Courier New</vt:lpstr>
      <vt:lpstr>Google Sans</vt:lpstr>
      <vt:lpstr>Sans Serif Collection</vt:lpstr>
      <vt:lpstr>Sans-serif</vt:lpstr>
      <vt:lpstr>Office Theme</vt:lpstr>
      <vt:lpstr>Student Retention &amp; Graduation Equity in Higher Education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Hemanth Kumar Konda</dc:creator>
  <cp:lastModifiedBy>Hemanth Kumar Konda</cp:lastModifiedBy>
  <cp:revision>24</cp:revision>
  <dcterms:created xsi:type="dcterms:W3CDTF">2026-04-07T13:26:59Z</dcterms:created>
  <dcterms:modified xsi:type="dcterms:W3CDTF">2026-04-13T15:53:08Z</dcterms:modified>
</cp:coreProperties>
</file>